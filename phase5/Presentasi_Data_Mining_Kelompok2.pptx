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(0:00–0:40) — Insight Communicator.
Selamat pagi. Kami Kelompok 2, menganalisis 2,26 juta pinjaman Lending Club dengan proses KDD lima fase. Presentasi 10 menit ini fokus pada satu hal: apa yang kami temukan yang tidak terlihat dari data mentah, dan apa artinya bagi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SENTRAL (0:40–1:30) — Insight Communicator.
Pertanyaan yang kami jawab: apa yang tidak terlihat dari data mentah. Tiga angka ini jawabannya, dan masing-masing datang dari fase KDD yang berbeda: clustering, association rule mining, dan anomaly detection. Saya akan serahkan ke tim untuk metodenya, lalu kita bahas ketiga temuan ini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METODOLOGI (1:30–2:40) — Data Engineer 1.
Pipeline kami lima fase. Yang penting bukan daftar algoritmanya, tapi bahwa tiap keputusan punya dasar. Tiga prinsip di bawah: pertama, tidak ada kebocoran data — kolom yang baru ada setelah pinjaman berjalan kami buang, dan status pinjaman hanya kami pakai untuk validasi, bukan sebagai fitur. Kedua, tidak ada angka ajaib — eps DBSCAN dari knee k-distance, min_samples dari ln(n), ambang diskretisasi dari bracket FICO resmi dan aturan Qualified Mortgage. Ketiga, semuanya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JUSTIFIKASI (2:40–3:40) — Data Engineer 2.
Ini yang membedakan pipeline yang dijalankan mekanis dengan yang dipikirkan. Lima alternatif yang kami pertimbangkan dan tolak, dengan alasannya. Yang paling menarik yang ketiga: kami sempat diminta mempertimbangkan cutoff berbasis gap untuk Isolation Forest. Kami uji secara empiris — ternyata kurva skornya mulus, gap terbesar cuma di 0,10 persen populasi dan lokasinya berpindah saat window pencarian digeser. Jadi kami pertahankan contamination 1 persen, dan nanti saya tunjukkan kenapa pilihan itu hampir tidak berpengaruh.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1 — BUKTI (3:40–4:40) — Segmentation Specialist.
Intuisi umum bilang peminjam bermasalah itu minoritas kecil. Data bilang sebaliknya: hampir dua pertiga buku pinjaman ada di segmen yang lebih berisiko, dengan charged-off 14,4 persen versus 7,7 persen.
Grafik kiri penting: kami ukur pemisah antar segmen dalam satuan simpangan baku, bukan dolar. FICO memang paling tajam, 1,16 SD. Tapi utilisasi revolving dan ukuran pinjaman menyusul dekat — 0,85 dan 0,87 SD. Penghasilan kelihatan beda jauh secara nominal, 63 ribu versus 102 ribu dolar, tapi hanya 0,34 SD karena varians penghasilan sangat lebar. Kalau kita baca angka dolarnya saja, kita salah menyimpulkan penghasilan sebagai pemisah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1 — KORROBORASI (4:40–5:30) — Segmentation Specialist.
Satu output tidak cukup. Kami cek dengan algoritma kedua: hierarchical Ward, dan hasilnya sejalan — Adjusted Rand Index 0,365, moderat, tabel silangnya menempatkan mayoritas anggota pada sel yang bersesuaian.
Silhouette-nya 0,161, dan kami tidak menyembunyikan itu. Angka itu rendah. Tapi wajar untuk data sosial-ekonomi yang kontinu — tidak ada jurang alami antar kelompok manusia. Yang menguatkan kami bukan silhouette-nya, tapi kestabilannya: K=2 menang di 4 dari 5 sample acak.
Aksinya konkret: tim kebijakan kredit sebaiknya mengkalibrasi harga pada kombinasi atribut, bukan FICO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2 (5:30–6:40) — Pattern Analyst.
Dari 1.023 rule yang lolos filter, kami cari: adakah rule yang memprediksi grade tanpa melibatkan suku bunga? Jawabannya satu. Satu dari 1.023.
Batang abu-abu itu semua rule grade ke suku bunga — lift 2,9 sampai 4,06, Grade A ke bunga rendah bahkan confidence 1,00. Artinya grade dan suku bunga praktis informasi yang sama.
Batang oranye satu-satunya yang berdiri tanpa suku bunga: FICO 740–799 ke Grade A. Dan itu pun bukan penemuan independen, karena FICO memang input langsung model grading Lending Club.
Implikasinya untuk tim pemodelan: kalau kita masukkan grade dan suku bunga bersamaan ke model hilir, kita menghitung informasi yang sama dua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3 (6:40–7:40) — Pattern Analyst.
Temuan yang paling berlawanan dengan dugaan. Anomali statistik — 116 ribu baris yang ditandai minimal dua dari empat metode — justru gagal bayar LEBIH JARANG dari populasi: 8,7 versus 13,1 persen. Kenapa? Karena mayoritas outlier itu peminjam berpenghasilan sangat tinggi atau berlimit kartu besar, yang membayar lancar.
Jadi kalau bank menyaring nasabah hanya karena dia outlier, bank menyingkirkan nasabah bernilai tinggi.
Tapi ada satu sub-kelompok yang berbeda: 11.358 baris dengan tekanan kredit tinggi, bad-rate 19,2 persen, 1,47 kali populasi. Yang penting: sub-kelompok ini kami bentuk dari atribut pra-pinjaman saja, tanpa melihat status pinjaman. Angka 19,2 persen itu hasil validasi setelahnya, bukan definisinya. Kalau kami definisikan dari status pinjaman, itu penalaran berputar dan angkanya tidak berarti apa-apa.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SINTESIS (7:40–8:20) — Insight Communicator.
Kalau ketiga temuan ini dirangkai, ceritanya jadi satu. Clustering menunjukkan di mana risikonya: di segmen mayoritas, terbaca dari beberapa atribut. ARM menjelaskan kenapa skor yang ada sekarang kurang membantu: grade cuma mengulang suku bunga. Dan anomaly detection memberi alat penggantinya: bukan status outlier, tapi kombinasi atribut tekanan kredit.
Ketiganya menunjuk ke perbaikan yang sama: nilai risiko dari atribut fundamental peminjam, bukan dari keputusan yang sudah dibuat bank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KETAHANAN (8:20–9:00) — Data Engineer 2.
Dua parameter yang paling mungkin dipertanyakan penguji, kami uji sendiri.
Kiri: kenapa K=2. Kurva inertianya menurun mulus, tidak ada siku yang jelas — jadi kami tidak mengklaim ada siku. Keputusan bertumpu pada Silhouette, yang memilih K=2 secara konsisten di 4 dari 5 sample.
Kanan: uji gap yang tadi disinggung. Kalau kami pakai cutoff dari gap terbesar, anomali terkonfirmasi 115.195. Dengan contamination 1 persen, 116.225. Selisihnya kurang dari 1 persen. Alasannya karena kami baru menghitung sesuatu sebagai anomali kalau minimal dua metode setuju — syarat itu yang bikin hasilnya tidak sensitif terhadap pilihan parameter satu metode.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(9:00–9:40) — Data Engineer 1.
Empat hal yang tidak bisa kami klaim.
Pertama dan paling penting: ini bukan sebab-akibat. Kami melaporkan selisih tingkat kejadian. Utilisasi tinggi bisa jadi penanda tekanan yang sudah ada, bukan penyebabnya.
Kedua, outlier kontekstual belum kami uji di dalam tiap segmen — Mahalanobis kami hitung terhadap centroid populasi, jadi record yang janggal hanya di dalam segmennya sendiri lolos.
Ketiga, dataset ini cuma memuat pemohon yang disetujui, jadi ada bias seleksi, dan terbatas pasar AS.
Keempat, yang akan memperkuat: data pemohon ditolak, dan riwayat pembayaran bulanan.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(9:40–10:00) — Insight Communicator.
Tiga rekomendasi, masing-masing untuk tim yang berbeda. Kebijakan kredit: kalibrasi pada kombinasi atribut. Pemodelan risiko: berhenti pakai grade dan suku bunga bersamaan. Underwriting: ganti flag outlier dengan aturan tekanan kredit.
Semua angka yang kami sebut hari ini bisa ditelusuri ke output pipeline — ada di notebook, dashboard, dan laporan. Terima kasih, kami siap menerima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2E"/>
        </a:solidFill>
      </p:bgPr>
    </p:bg>
    <p:spTree>
      <p:nvGrpSpPr>
        <p:cNvPr id="1" name=""/>
        <p:cNvGrpSpPr/>
        <p:nvPr/>
      </p:nvGrpSpPr>
      <p:grpSpPr>
        <a:xfrm>
          <a:off x="0" y="0"/>
          <a:ext cx="0" cy="0"/>
          <a:chOff x="0" y="0"/>
          <a:chExt cx="0" cy="0"/>
        </a:xfrm>
      </p:grpSpPr>
      <p:pic>
        <p:nvPicPr>
          <p:cNvPr id="2" name="Image 0" descr="/tmp/deck/img/umap_cover.png">    </p:cNvPr>
          <p:cNvPicPr>
            <a:picLocks noChangeAspect="1"/>
          </p:cNvPicPr>
          <p:nvPr/>
        </p:nvPicPr>
        <p:blipFill>
          <a:blip r:embed="rId1">
            <a:alphaModFix amt="68000"/>
          </a:blip>
          <a:stretch>
            <a:fillRect/>
          </a:stretch>
        </p:blipFill>
        <p:spPr>
          <a:xfrm>
            <a:off x="7452360" y="1481328"/>
            <a:ext cx="4206240" cy="3886200"/>
          </a:xfrm>
          <a:prstGeom prst="rect">
            <a:avLst/>
          </a:prstGeom>
        </p:spPr>
      </p:pic>
      <p:sp>
        <p:nvSpPr>
          <p:cNvPr id="3" name="Text 0"/>
          <p:cNvSpPr/>
          <p:nvPr/>
        </p:nvSpPr>
        <p:spPr>
          <a:xfrm>
            <a:off x="566928" y="1417320"/>
            <a:ext cx="8778240" cy="329184"/>
          </a:xfrm>
          <a:prstGeom prst="rect">
            <a:avLst/>
          </a:prstGeom>
          <a:noFill/>
          <a:ln/>
        </p:spPr>
        <p:txBody>
          <a:bodyPr wrap="square" lIns="0" tIns="0" rIns="0" bIns="0" rtlCol="0" anchor="ctr"/>
          <a:lstStyle/>
          <a:p>
            <a:pPr indent="0" marL="0">
              <a:buNone/>
            </a:pPr>
            <a:r>
              <a:rPr lang="en-US" sz="1400" b="1" spc="200" kern="0" dirty="0">
                <a:solidFill>
                  <a:srgbClr val="D98324"/>
                </a:solidFill>
                <a:latin typeface="Calibri" pitchFamily="34" charset="0"/>
                <a:ea typeface="Calibri" pitchFamily="34" charset="-122"/>
                <a:cs typeface="Calibri" pitchFamily="34" charset="-120"/>
              </a:rPr>
              <a:t>Knowledge Discovery in Databases</a:t>
            </a:r>
            <a:endParaRPr lang="en-US" sz="1400" dirty="0"/>
          </a:p>
        </p:txBody>
      </p:sp>
      <p:sp>
        <p:nvSpPr>
          <p:cNvPr id="4" name="Text 1"/>
          <p:cNvSpPr/>
          <p:nvPr/>
        </p:nvSpPr>
        <p:spPr>
          <a:xfrm>
            <a:off x="566928" y="1874520"/>
            <a:ext cx="9052560" cy="173736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Segmentasi Risiko Peminjam</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pada Dataset Lending Club</a:t>
            </a:r>
            <a:endParaRPr lang="en-US" sz="4000" dirty="0"/>
          </a:p>
        </p:txBody>
      </p:sp>
      <p:sp>
        <p:nvSpPr>
          <p:cNvPr id="5" name="Text 2"/>
          <p:cNvSpPr/>
          <p:nvPr/>
        </p:nvSpPr>
        <p:spPr>
          <a:xfrm>
            <a:off x="566928" y="3767328"/>
            <a:ext cx="9601200" cy="365760"/>
          </a:xfrm>
          <a:prstGeom prst="rect">
            <a:avLst/>
          </a:prstGeom>
          <a:noFill/>
          <a:ln/>
        </p:spPr>
        <p:txBody>
          <a:bodyPr wrap="square" lIns="0" tIns="0" rIns="0" bIns="0" rtlCol="0" anchor="ctr"/>
          <a:lstStyle/>
          <a:p>
            <a:pPr indent="0" marL="0">
              <a:buNone/>
            </a:pPr>
            <a:r>
              <a:rPr lang="en-US" sz="1500" dirty="0">
                <a:solidFill>
                  <a:srgbClr val="9FB0C2"/>
                </a:solidFill>
                <a:latin typeface="Calibri" pitchFamily="34" charset="0"/>
                <a:ea typeface="Calibri" pitchFamily="34" charset="-122"/>
                <a:cs typeface="Calibri" pitchFamily="34" charset="-120"/>
              </a:rPr>
              <a:t>2.260.668 pinjaman  ·  151 fitur mentah  ·  12 fitur final  ·  lima fase KDD</a:t>
            </a:r>
            <a:endParaRPr lang="en-US" sz="1500" dirty="0"/>
          </a:p>
        </p:txBody>
      </p:sp>
      <p:sp>
        <p:nvSpPr>
          <p:cNvPr id="6" name="Shape 3"/>
          <p:cNvSpPr/>
          <p:nvPr/>
        </p:nvSpPr>
        <p:spPr>
          <a:xfrm>
            <a:off x="566928" y="4443984"/>
            <a:ext cx="2926080" cy="0"/>
          </a:xfrm>
          <a:prstGeom prst="line">
            <a:avLst/>
          </a:prstGeom>
          <a:noFill/>
          <a:ln w="12700">
            <a:solidFill>
              <a:srgbClr val="3A4B60"/>
            </a:solidFill>
            <a:prstDash val="solid"/>
          </a:ln>
        </p:spPr>
      </p:sp>
      <p:sp>
        <p:nvSpPr>
          <p:cNvPr id="7" name="Text 4"/>
          <p:cNvSpPr/>
          <p:nvPr/>
        </p:nvSpPr>
        <p:spPr>
          <a:xfrm>
            <a:off x="566928" y="4645152"/>
            <a:ext cx="548640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Kelompok 2</a:t>
            </a:r>
            <a:endParaRPr lang="en-US" sz="1600" dirty="0"/>
          </a:p>
        </p:txBody>
      </p:sp>
      <p:sp>
        <p:nvSpPr>
          <p:cNvPr id="8" name="Text 5"/>
          <p:cNvSpPr/>
          <p:nvPr/>
        </p:nvSpPr>
        <p:spPr>
          <a:xfrm>
            <a:off x="566928" y="4992624"/>
            <a:ext cx="7315200" cy="292608"/>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Lending Club Accepted Loans 2007–2018Q4 (Kaggle)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Pertanyaan sentral</a:t>
            </a:r>
            <a:endParaRPr lang="en-US" sz="1300" dirty="0"/>
          </a:p>
        </p:txBody>
      </p:sp>
      <p:sp>
        <p:nvSpPr>
          <p:cNvPr id="3" name="Text 1"/>
          <p:cNvSpPr/>
          <p:nvPr/>
        </p:nvSpPr>
        <p:spPr>
          <a:xfrm>
            <a:off x="566928" y="950976"/>
            <a:ext cx="11057839" cy="1371600"/>
          </a:xfrm>
          <a:prstGeom prst="rect">
            <a:avLst/>
          </a:prstGeom>
          <a:noFill/>
          <a:ln/>
        </p:spPr>
        <p:txBody>
          <a:bodyPr wrap="square" lIns="0" tIns="0" rIns="0" bIns="0" rtlCol="0" anchor="t"/>
          <a:lstStyle/>
          <a:p>
            <a:pPr indent="0" marL="0">
              <a:lnSpc>
                <a:spcPts val="3800"/>
              </a:lnSpc>
              <a:buNone/>
            </a:pPr>
            <a:r>
              <a:rPr lang="en-US" sz="3000" b="1" dirty="0">
                <a:solidFill>
                  <a:srgbClr val="16212E"/>
                </a:solidFill>
                <a:latin typeface="Cambria" pitchFamily="34" charset="0"/>
                <a:ea typeface="Cambria" pitchFamily="34" charset="-122"/>
                <a:cs typeface="Cambria" pitchFamily="34" charset="-120"/>
              </a:rPr>
              <a:t>Apa yang ditemukan yang tidak terlihat</a:t>
            </a:r>
            <a:endParaRPr lang="en-US" sz="3000" dirty="0"/>
          </a:p>
          <a:p>
            <a:pPr indent="0" marL="0">
              <a:lnSpc>
                <a:spcPts val="3800"/>
              </a:lnSpc>
              <a:buNone/>
            </a:pPr>
            <a:r>
              <a:rPr lang="en-US" sz="3000" b="1" dirty="0">
                <a:solidFill>
                  <a:srgbClr val="16212E"/>
                </a:solidFill>
                <a:latin typeface="Cambria" pitchFamily="34" charset="0"/>
                <a:ea typeface="Cambria" pitchFamily="34" charset="-122"/>
                <a:cs typeface="Cambria" pitchFamily="34" charset="-120"/>
              </a:rPr>
              <a:t>langsung dari data mentah?</a:t>
            </a:r>
            <a:endParaRPr lang="en-US" sz="3000" dirty="0"/>
          </a:p>
        </p:txBody>
      </p:sp>
      <p:sp>
        <p:nvSpPr>
          <p:cNvPr id="4" name="Shape 2"/>
          <p:cNvSpPr/>
          <p:nvPr/>
        </p:nvSpPr>
        <p:spPr>
          <a:xfrm>
            <a:off x="566928" y="2542032"/>
            <a:ext cx="11057839" cy="1170432"/>
          </a:xfrm>
          <a:prstGeom prst="roundRect">
            <a:avLst>
              <a:gd name="adj" fmla="val 4688"/>
            </a:avLst>
          </a:prstGeom>
          <a:solidFill>
            <a:srgbClr val="16212E"/>
          </a:solidFill>
          <a:ln/>
        </p:spPr>
      </p:sp>
      <p:sp>
        <p:nvSpPr>
          <p:cNvPr id="5" name="Text 3"/>
          <p:cNvSpPr/>
          <p:nvPr/>
        </p:nvSpPr>
        <p:spPr>
          <a:xfrm>
            <a:off x="877824" y="2542032"/>
            <a:ext cx="10436047" cy="1170432"/>
          </a:xfrm>
          <a:prstGeom prst="rect">
            <a:avLst/>
          </a:prstGeom>
          <a:noFill/>
          <a:ln/>
        </p:spPr>
        <p:txBody>
          <a:bodyPr wrap="square" lIns="0" tIns="0" rIns="0" bIns="0" rtlCol="0" anchor="ctr"/>
          <a:lstStyle/>
          <a:p>
            <a:pPr indent="0" marL="0">
              <a:lnSpc>
                <a:spcPts val="2200"/>
              </a:lnSpc>
              <a:buNone/>
            </a:pPr>
            <a:r>
              <a:rPr lang="en-US" sz="1550" dirty="0">
                <a:solidFill>
                  <a:srgbClr val="FFFFFF"/>
                </a:solidFill>
                <a:latin typeface="Calibri" pitchFamily="34" charset="0"/>
                <a:ea typeface="Calibri" pitchFamily="34" charset="-122"/>
                <a:cs typeface="Calibri" pitchFamily="34" charset="-120"/>
              </a:rPr>
              <a:t>Risiko gagal bayar bukan milik minoritas kecil — ia terkonsentrasi pada segmen mayoritas, dan penanda risiko yang dipakai selama ini sebagian hanya mengulang keputusan harga bank sendiri.</a:t>
            </a:r>
            <a:endParaRPr lang="en-US" sz="1550" dirty="0"/>
          </a:p>
        </p:txBody>
      </p:sp>
      <p:sp>
        <p:nvSpPr>
          <p:cNvPr id="6" name="Shape 4"/>
          <p:cNvSpPr/>
          <p:nvPr/>
        </p:nvSpPr>
        <p:spPr>
          <a:xfrm>
            <a:off x="566928" y="4041648"/>
            <a:ext cx="3503066" cy="1499616"/>
          </a:xfrm>
          <a:prstGeom prst="roundRect">
            <a:avLst>
              <a:gd name="adj" fmla="val 3659"/>
            </a:avLst>
          </a:prstGeom>
          <a:solidFill>
            <a:srgbClr val="F4F6F8"/>
          </a:solidFill>
          <a:ln/>
        </p:spPr>
      </p:sp>
      <p:sp>
        <p:nvSpPr>
          <p:cNvPr id="7" name="Text 5"/>
          <p:cNvSpPr/>
          <p:nvPr/>
        </p:nvSpPr>
        <p:spPr>
          <a:xfrm>
            <a:off x="731520" y="4169664"/>
            <a:ext cx="3173882" cy="749808"/>
          </a:xfrm>
          <a:prstGeom prst="rect">
            <a:avLst/>
          </a:prstGeom>
          <a:noFill/>
          <a:ln/>
        </p:spPr>
        <p:txBody>
          <a:bodyPr wrap="square" lIns="0" tIns="0" rIns="0" bIns="0" rtlCol="0" anchor="ctr"/>
          <a:lstStyle/>
          <a:p>
            <a:pPr algn="l" indent="0" marL="0">
              <a:buNone/>
            </a:pPr>
            <a:r>
              <a:rPr lang="en-US" sz="3000" b="1" dirty="0">
                <a:solidFill>
                  <a:srgbClr val="C0453B"/>
                </a:solidFill>
                <a:latin typeface="Cambria" pitchFamily="34" charset="0"/>
                <a:ea typeface="Cambria" pitchFamily="34" charset="-122"/>
                <a:cs typeface="Cambria" pitchFamily="34" charset="-120"/>
              </a:rPr>
              <a:t>62,2%</a:t>
            </a:r>
            <a:endParaRPr lang="en-US" sz="3000" dirty="0"/>
          </a:p>
        </p:txBody>
      </p:sp>
      <p:sp>
        <p:nvSpPr>
          <p:cNvPr id="8" name="Text 6"/>
          <p:cNvSpPr/>
          <p:nvPr/>
        </p:nvSpPr>
        <p:spPr>
          <a:xfrm>
            <a:off x="731520" y="4911425"/>
            <a:ext cx="3173882" cy="539862"/>
          </a:xfrm>
          <a:prstGeom prst="rect">
            <a:avLst/>
          </a:prstGeom>
          <a:noFill/>
          <a:ln/>
        </p:spPr>
        <p:txBody>
          <a:bodyPr wrap="square" lIns="0" tIns="0" rIns="0" bIns="0" rtlCol="0" anchor="t"/>
          <a:lstStyle/>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peminjam berada di segmen higher-risk,</a:t>
            </a:r>
            <a:endParaRPr lang="en-US" sz="1150" dirty="0"/>
          </a:p>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charged-off 14,4% (Clustering)</a:t>
            </a:r>
            <a:endParaRPr lang="en-US" sz="1150" dirty="0"/>
          </a:p>
        </p:txBody>
      </p:sp>
      <p:sp>
        <p:nvSpPr>
          <p:cNvPr id="9" name="Shape 7"/>
          <p:cNvSpPr/>
          <p:nvPr/>
        </p:nvSpPr>
        <p:spPr>
          <a:xfrm>
            <a:off x="4344314" y="4041648"/>
            <a:ext cx="3503066" cy="1499616"/>
          </a:xfrm>
          <a:prstGeom prst="roundRect">
            <a:avLst>
              <a:gd name="adj" fmla="val 3659"/>
            </a:avLst>
          </a:prstGeom>
          <a:solidFill>
            <a:srgbClr val="F4F6F8"/>
          </a:solidFill>
          <a:ln/>
        </p:spPr>
      </p:sp>
      <p:sp>
        <p:nvSpPr>
          <p:cNvPr id="10" name="Text 8"/>
          <p:cNvSpPr/>
          <p:nvPr/>
        </p:nvSpPr>
        <p:spPr>
          <a:xfrm>
            <a:off x="4508906" y="4169664"/>
            <a:ext cx="3173882" cy="749808"/>
          </a:xfrm>
          <a:prstGeom prst="rect">
            <a:avLst/>
          </a:prstGeom>
          <a:noFill/>
          <a:ln/>
        </p:spPr>
        <p:txBody>
          <a:bodyPr wrap="square" lIns="0" tIns="0" rIns="0" bIns="0" rtlCol="0" anchor="ctr"/>
          <a:lstStyle/>
          <a:p>
            <a:pPr algn="l" indent="0" marL="0">
              <a:buNone/>
            </a:pPr>
            <a:r>
              <a:rPr lang="en-US" sz="3000" b="1" dirty="0">
                <a:solidFill>
                  <a:srgbClr val="16212E"/>
                </a:solidFill>
                <a:latin typeface="Cambria" pitchFamily="34" charset="0"/>
                <a:ea typeface="Cambria" pitchFamily="34" charset="-122"/>
                <a:cs typeface="Cambria" pitchFamily="34" charset="-120"/>
              </a:rPr>
              <a:t>1 dari 1.023</a:t>
            </a:r>
            <a:endParaRPr lang="en-US" sz="3000" dirty="0"/>
          </a:p>
        </p:txBody>
      </p:sp>
      <p:sp>
        <p:nvSpPr>
          <p:cNvPr id="11" name="Text 9"/>
          <p:cNvSpPr/>
          <p:nvPr/>
        </p:nvSpPr>
        <p:spPr>
          <a:xfrm>
            <a:off x="4508906" y="4911425"/>
            <a:ext cx="3173882" cy="539862"/>
          </a:xfrm>
          <a:prstGeom prst="rect">
            <a:avLst/>
          </a:prstGeom>
          <a:noFill/>
          <a:ln/>
        </p:spPr>
        <p:txBody>
          <a:bodyPr wrap="square" lIns="0" tIns="0" rIns="0" bIns="0" rtlCol="0" anchor="t"/>
          <a:lstStyle/>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rule yang memprediksi Grade A</a:t>
            </a:r>
            <a:endParaRPr lang="en-US" sz="1150" dirty="0"/>
          </a:p>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tanpa suku bunga (ARM)</a:t>
            </a:r>
            <a:endParaRPr lang="en-US" sz="1150" dirty="0"/>
          </a:p>
        </p:txBody>
      </p:sp>
      <p:sp>
        <p:nvSpPr>
          <p:cNvPr id="12" name="Shape 10"/>
          <p:cNvSpPr/>
          <p:nvPr/>
        </p:nvSpPr>
        <p:spPr>
          <a:xfrm>
            <a:off x="8121701" y="4041648"/>
            <a:ext cx="3503066" cy="1499616"/>
          </a:xfrm>
          <a:prstGeom prst="roundRect">
            <a:avLst>
              <a:gd name="adj" fmla="val 3659"/>
            </a:avLst>
          </a:prstGeom>
          <a:solidFill>
            <a:srgbClr val="F4F6F8"/>
          </a:solidFill>
          <a:ln/>
        </p:spPr>
      </p:sp>
      <p:sp>
        <p:nvSpPr>
          <p:cNvPr id="13" name="Text 11"/>
          <p:cNvSpPr/>
          <p:nvPr/>
        </p:nvSpPr>
        <p:spPr>
          <a:xfrm>
            <a:off x="8286293" y="4169664"/>
            <a:ext cx="3173882" cy="749808"/>
          </a:xfrm>
          <a:prstGeom prst="rect">
            <a:avLst/>
          </a:prstGeom>
          <a:noFill/>
          <a:ln/>
        </p:spPr>
        <p:txBody>
          <a:bodyPr wrap="square" lIns="0" tIns="0" rIns="0" bIns="0" rtlCol="0" anchor="ctr"/>
          <a:lstStyle/>
          <a:p>
            <a:pPr algn="l" indent="0" marL="0">
              <a:buNone/>
            </a:pPr>
            <a:r>
              <a:rPr lang="en-US" sz="3000" b="1" dirty="0">
                <a:solidFill>
                  <a:srgbClr val="D98324"/>
                </a:solidFill>
                <a:latin typeface="Cambria" pitchFamily="34" charset="0"/>
                <a:ea typeface="Cambria" pitchFamily="34" charset="-122"/>
                <a:cs typeface="Cambria" pitchFamily="34" charset="-120"/>
              </a:rPr>
              <a:t>1,47×</a:t>
            </a:r>
            <a:endParaRPr lang="en-US" sz="3000" dirty="0"/>
          </a:p>
        </p:txBody>
      </p:sp>
      <p:sp>
        <p:nvSpPr>
          <p:cNvPr id="14" name="Text 12"/>
          <p:cNvSpPr/>
          <p:nvPr/>
        </p:nvSpPr>
        <p:spPr>
          <a:xfrm>
            <a:off x="8286293" y="4911425"/>
            <a:ext cx="3173882" cy="539862"/>
          </a:xfrm>
          <a:prstGeom prst="rect">
            <a:avLst/>
          </a:prstGeom>
          <a:noFill/>
          <a:ln/>
        </p:spPr>
        <p:txBody>
          <a:bodyPr wrap="square" lIns="0" tIns="0" rIns="0" bIns="0" rtlCol="0" anchor="t"/>
          <a:lstStyle/>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kenaikan bad-rate pada sub-kelompok</a:t>
            </a:r>
            <a:endParaRPr lang="en-US" sz="1150" dirty="0"/>
          </a:p>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high-stress (Anomaly Detection)</a:t>
            </a:r>
            <a:endParaRPr lang="en-US" sz="1150" dirty="0"/>
          </a:p>
        </p:txBody>
      </p:sp>
      <p:sp>
        <p:nvSpPr>
          <p:cNvPr id="15" name="Text 13"/>
          <p:cNvSpPr/>
          <p:nvPr/>
        </p:nvSpPr>
        <p:spPr>
          <a:xfrm>
            <a:off x="566928" y="5797296"/>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Ketiganya berasal dari fase berbeda dan saling mengunci — tidak satu pun terbaca dari tabulasi sederhana.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Metodologi</a:t>
            </a:r>
            <a:endParaRPr lang="en-US" sz="1300" dirty="0"/>
          </a:p>
        </p:txBody>
      </p:sp>
      <p:sp>
        <p:nvSpPr>
          <p:cNvPr id="3" name="Text 1"/>
          <p:cNvSpPr/>
          <p:nvPr/>
        </p:nvSpPr>
        <p:spPr>
          <a:xfrm>
            <a:off x="566928" y="950976"/>
            <a:ext cx="11057839" cy="658368"/>
          </a:xfrm>
          <a:prstGeom prst="rect">
            <a:avLst/>
          </a:prstGeom>
          <a:noFill/>
          <a:ln/>
        </p:spPr>
        <p:txBody>
          <a:bodyPr wrap="square" lIns="0" tIns="0" rIns="0" bIns="0" rtlCol="0" anchor="t"/>
          <a:lstStyle/>
          <a:p>
            <a:pPr indent="0" marL="0">
              <a:lnSpc>
                <a:spcPts val="3200"/>
              </a:lnSpc>
              <a:buNone/>
            </a:pPr>
            <a:r>
              <a:rPr lang="en-US" sz="2800" b="1" dirty="0">
                <a:solidFill>
                  <a:srgbClr val="16212E"/>
                </a:solidFill>
                <a:latin typeface="Cambria" pitchFamily="34" charset="0"/>
                <a:ea typeface="Cambria" pitchFamily="34" charset="-122"/>
                <a:cs typeface="Cambria" pitchFamily="34" charset="-120"/>
              </a:rPr>
              <a:t>Lima fase KDD, setiap keputusan diambil dari data</a:t>
            </a:r>
            <a:endParaRPr lang="en-US" sz="2800" dirty="0"/>
          </a:p>
        </p:txBody>
      </p:sp>
      <p:sp>
        <p:nvSpPr>
          <p:cNvPr id="4" name="Shape 2"/>
          <p:cNvSpPr/>
          <p:nvPr/>
        </p:nvSpPr>
        <p:spPr>
          <a:xfrm>
            <a:off x="566928" y="1938528"/>
            <a:ext cx="2021373" cy="2432304"/>
          </a:xfrm>
          <a:prstGeom prst="roundRect">
            <a:avLst>
              <a:gd name="adj" fmla="val 2714"/>
            </a:avLst>
          </a:prstGeom>
          <a:solidFill>
            <a:srgbClr val="F4F6F8"/>
          </a:solidFill>
          <a:ln/>
        </p:spPr>
      </p:sp>
      <p:sp>
        <p:nvSpPr>
          <p:cNvPr id="5" name="Shape 3"/>
          <p:cNvSpPr/>
          <p:nvPr/>
        </p:nvSpPr>
        <p:spPr>
          <a:xfrm>
            <a:off x="768096" y="2194560"/>
            <a:ext cx="384048" cy="384048"/>
          </a:xfrm>
          <a:prstGeom prst="ellipse">
            <a:avLst/>
          </a:prstGeom>
          <a:solidFill>
            <a:srgbClr val="16212E"/>
          </a:solidFill>
          <a:ln/>
        </p:spPr>
      </p:sp>
      <p:sp>
        <p:nvSpPr>
          <p:cNvPr id="6" name="Text 4"/>
          <p:cNvSpPr/>
          <p:nvPr/>
        </p:nvSpPr>
        <p:spPr>
          <a:xfrm>
            <a:off x="768096"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68096" y="2761488"/>
            <a:ext cx="1619037" cy="512064"/>
          </a:xfrm>
          <a:prstGeom prst="rect">
            <a:avLst/>
          </a:prstGeom>
          <a:noFill/>
          <a:ln/>
        </p:spPr>
        <p:txBody>
          <a:bodyPr wrap="square" lIns="0" tIns="0" rIns="0" bIns="0" rtlCol="0" anchor="t"/>
          <a:lstStyle/>
          <a:p>
            <a:pPr indent="0" marL="0">
              <a:lnSpc>
                <a:spcPts val="1700"/>
              </a:lnSpc>
              <a:buNone/>
            </a:pPr>
            <a:r>
              <a:rPr lang="en-US" sz="1400" b="1" dirty="0">
                <a:solidFill>
                  <a:srgbClr val="16212E"/>
                </a:solidFill>
                <a:latin typeface="Calibri" pitchFamily="34" charset="0"/>
                <a:ea typeface="Calibri" pitchFamily="34" charset="-122"/>
                <a:cs typeface="Calibri" pitchFamily="34" charset="-120"/>
              </a:rPr>
              <a:t>Preprocessing</a:t>
            </a:r>
            <a:endParaRPr lang="en-US" sz="1400" dirty="0"/>
          </a:p>
        </p:txBody>
      </p:sp>
      <p:sp>
        <p:nvSpPr>
          <p:cNvPr id="8" name="Text 6"/>
          <p:cNvSpPr/>
          <p:nvPr/>
        </p:nvSpPr>
        <p:spPr>
          <a:xfrm>
            <a:off x="768096" y="3310128"/>
            <a:ext cx="1619037" cy="1024128"/>
          </a:xfrm>
          <a:prstGeom prst="rect">
            <a:avLst/>
          </a:prstGeom>
          <a:noFill/>
          <a:ln/>
        </p:spPr>
        <p:txBody>
          <a:bodyPr wrap="square" lIns="0" tIns="0" rIns="0" bIns="0" rtlCol="0" anchor="t"/>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151 → 12 fitur</a:t>
            </a:r>
            <a:endParaRPr lang="en-US" sz="1150" dirty="0"/>
          </a:p>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korelasi + mutual information</a:t>
            </a:r>
            <a:endParaRPr lang="en-US" sz="1150" dirty="0"/>
          </a:p>
        </p:txBody>
      </p:sp>
      <p:sp>
        <p:nvSpPr>
          <p:cNvPr id="9" name="Shape 7"/>
          <p:cNvSpPr/>
          <p:nvPr/>
        </p:nvSpPr>
        <p:spPr>
          <a:xfrm>
            <a:off x="2826045" y="1938528"/>
            <a:ext cx="2021373" cy="2432304"/>
          </a:xfrm>
          <a:prstGeom prst="roundRect">
            <a:avLst>
              <a:gd name="adj" fmla="val 2714"/>
            </a:avLst>
          </a:prstGeom>
          <a:solidFill>
            <a:srgbClr val="F4F6F8"/>
          </a:solidFill>
          <a:ln/>
        </p:spPr>
      </p:sp>
      <p:sp>
        <p:nvSpPr>
          <p:cNvPr id="10" name="Shape 8"/>
          <p:cNvSpPr/>
          <p:nvPr/>
        </p:nvSpPr>
        <p:spPr>
          <a:xfrm>
            <a:off x="3027213" y="2194560"/>
            <a:ext cx="384048" cy="384048"/>
          </a:xfrm>
          <a:prstGeom prst="ellipse">
            <a:avLst/>
          </a:prstGeom>
          <a:solidFill>
            <a:srgbClr val="C0453B"/>
          </a:solidFill>
          <a:ln/>
        </p:spPr>
      </p:sp>
      <p:sp>
        <p:nvSpPr>
          <p:cNvPr id="11" name="Text 9"/>
          <p:cNvSpPr/>
          <p:nvPr/>
        </p:nvSpPr>
        <p:spPr>
          <a:xfrm>
            <a:off x="3027213"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027213" y="2761488"/>
            <a:ext cx="1619037" cy="512064"/>
          </a:xfrm>
          <a:prstGeom prst="rect">
            <a:avLst/>
          </a:prstGeom>
          <a:noFill/>
          <a:ln/>
        </p:spPr>
        <p:txBody>
          <a:bodyPr wrap="square" lIns="0" tIns="0" rIns="0" bIns="0" rtlCol="0" anchor="t"/>
          <a:lstStyle/>
          <a:p>
            <a:pPr indent="0" marL="0">
              <a:lnSpc>
                <a:spcPts val="1700"/>
              </a:lnSpc>
              <a:buNone/>
            </a:pPr>
            <a:r>
              <a:rPr lang="en-US" sz="1400" b="1" dirty="0">
                <a:solidFill>
                  <a:srgbClr val="16212E"/>
                </a:solidFill>
                <a:latin typeface="Calibri" pitchFamily="34" charset="0"/>
                <a:ea typeface="Calibri" pitchFamily="34" charset="-122"/>
                <a:cs typeface="Calibri" pitchFamily="34" charset="-120"/>
              </a:rPr>
              <a:t>Clustering</a:t>
            </a:r>
            <a:endParaRPr lang="en-US" sz="1400" dirty="0"/>
          </a:p>
        </p:txBody>
      </p:sp>
      <p:sp>
        <p:nvSpPr>
          <p:cNvPr id="13" name="Text 11"/>
          <p:cNvSpPr/>
          <p:nvPr/>
        </p:nvSpPr>
        <p:spPr>
          <a:xfrm>
            <a:off x="3027213" y="3310128"/>
            <a:ext cx="1619037" cy="1024128"/>
          </a:xfrm>
          <a:prstGeom prst="rect">
            <a:avLst/>
          </a:prstGeom>
          <a:noFill/>
          <a:ln/>
        </p:spPr>
        <p:txBody>
          <a:bodyPr wrap="square" lIns="0" tIns="0" rIns="0" bIns="0" rtlCol="0" anchor="t"/>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K-Means · Hierarchical · DBSCAN</a:t>
            </a:r>
            <a:endParaRPr lang="en-US" sz="1150" dirty="0"/>
          </a:p>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K=2 dari uji stabilitas</a:t>
            </a:r>
            <a:endParaRPr lang="en-US" sz="1150" dirty="0"/>
          </a:p>
        </p:txBody>
      </p:sp>
      <p:sp>
        <p:nvSpPr>
          <p:cNvPr id="14" name="Shape 12"/>
          <p:cNvSpPr/>
          <p:nvPr/>
        </p:nvSpPr>
        <p:spPr>
          <a:xfrm>
            <a:off x="5085161" y="1938528"/>
            <a:ext cx="2021373" cy="2432304"/>
          </a:xfrm>
          <a:prstGeom prst="roundRect">
            <a:avLst>
              <a:gd name="adj" fmla="val 2714"/>
            </a:avLst>
          </a:prstGeom>
          <a:solidFill>
            <a:srgbClr val="F4F6F8"/>
          </a:solidFill>
          <a:ln/>
        </p:spPr>
      </p:sp>
      <p:sp>
        <p:nvSpPr>
          <p:cNvPr id="15" name="Shape 13"/>
          <p:cNvSpPr/>
          <p:nvPr/>
        </p:nvSpPr>
        <p:spPr>
          <a:xfrm>
            <a:off x="5286329" y="2194560"/>
            <a:ext cx="384048" cy="384048"/>
          </a:xfrm>
          <a:prstGeom prst="ellipse">
            <a:avLst/>
          </a:prstGeom>
          <a:solidFill>
            <a:srgbClr val="D98324"/>
          </a:solidFill>
          <a:ln/>
        </p:spPr>
      </p:sp>
      <p:sp>
        <p:nvSpPr>
          <p:cNvPr id="16" name="Text 14"/>
          <p:cNvSpPr/>
          <p:nvPr/>
        </p:nvSpPr>
        <p:spPr>
          <a:xfrm>
            <a:off x="5286329"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5286329" y="2761488"/>
            <a:ext cx="1619037" cy="512064"/>
          </a:xfrm>
          <a:prstGeom prst="rect">
            <a:avLst/>
          </a:prstGeom>
          <a:noFill/>
          <a:ln/>
        </p:spPr>
        <p:txBody>
          <a:bodyPr wrap="square" lIns="0" tIns="0" rIns="0" bIns="0" rtlCol="0" anchor="t"/>
          <a:lstStyle/>
          <a:p>
            <a:pPr indent="0" marL="0">
              <a:lnSpc>
                <a:spcPts val="1700"/>
              </a:lnSpc>
              <a:buNone/>
            </a:pPr>
            <a:r>
              <a:rPr lang="en-US" sz="1400" b="1" dirty="0">
                <a:solidFill>
                  <a:srgbClr val="16212E"/>
                </a:solidFill>
                <a:latin typeface="Calibri" pitchFamily="34" charset="0"/>
                <a:ea typeface="Calibri" pitchFamily="34" charset="-122"/>
                <a:cs typeface="Calibri" pitchFamily="34" charset="-120"/>
              </a:rPr>
              <a:t>Association Rules</a:t>
            </a:r>
            <a:endParaRPr lang="en-US" sz="1400" dirty="0"/>
          </a:p>
        </p:txBody>
      </p:sp>
      <p:sp>
        <p:nvSpPr>
          <p:cNvPr id="18" name="Text 16"/>
          <p:cNvSpPr/>
          <p:nvPr/>
        </p:nvSpPr>
        <p:spPr>
          <a:xfrm>
            <a:off x="5286329" y="3310128"/>
            <a:ext cx="1619037" cy="1024128"/>
          </a:xfrm>
          <a:prstGeom prst="rect">
            <a:avLst/>
          </a:prstGeom>
          <a:noFill/>
          <a:ln/>
        </p:spPr>
        <p:txBody>
          <a:bodyPr wrap="square" lIns="0" tIns="0" rIns="0" bIns="0" rtlCol="0" anchor="t"/>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Apriori, ambang domain</a:t>
            </a:r>
            <a:endParaRPr lang="en-US" sz="1150" dirty="0"/>
          </a:p>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1.023 rule retained</a:t>
            </a:r>
            <a:endParaRPr lang="en-US" sz="1150" dirty="0"/>
          </a:p>
        </p:txBody>
      </p:sp>
      <p:sp>
        <p:nvSpPr>
          <p:cNvPr id="19" name="Shape 17"/>
          <p:cNvSpPr/>
          <p:nvPr/>
        </p:nvSpPr>
        <p:spPr>
          <a:xfrm>
            <a:off x="7344278" y="1938528"/>
            <a:ext cx="2021373" cy="2432304"/>
          </a:xfrm>
          <a:prstGeom prst="roundRect">
            <a:avLst>
              <a:gd name="adj" fmla="val 2714"/>
            </a:avLst>
          </a:prstGeom>
          <a:solidFill>
            <a:srgbClr val="F4F6F8"/>
          </a:solidFill>
          <a:ln/>
        </p:spPr>
      </p:sp>
      <p:sp>
        <p:nvSpPr>
          <p:cNvPr id="20" name="Shape 18"/>
          <p:cNvSpPr/>
          <p:nvPr/>
        </p:nvSpPr>
        <p:spPr>
          <a:xfrm>
            <a:off x="7545446" y="2194560"/>
            <a:ext cx="384048" cy="384048"/>
          </a:xfrm>
          <a:prstGeom prst="ellipse">
            <a:avLst/>
          </a:prstGeom>
          <a:solidFill>
            <a:srgbClr val="2E7D8F"/>
          </a:solidFill>
          <a:ln/>
        </p:spPr>
      </p:sp>
      <p:sp>
        <p:nvSpPr>
          <p:cNvPr id="21" name="Text 19"/>
          <p:cNvSpPr/>
          <p:nvPr/>
        </p:nvSpPr>
        <p:spPr>
          <a:xfrm>
            <a:off x="7545446"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545446" y="2761488"/>
            <a:ext cx="1619037" cy="512064"/>
          </a:xfrm>
          <a:prstGeom prst="rect">
            <a:avLst/>
          </a:prstGeom>
          <a:noFill/>
          <a:ln/>
        </p:spPr>
        <p:txBody>
          <a:bodyPr wrap="square" lIns="0" tIns="0" rIns="0" bIns="0" rtlCol="0" anchor="t"/>
          <a:lstStyle/>
          <a:p>
            <a:pPr indent="0" marL="0">
              <a:lnSpc>
                <a:spcPts val="1700"/>
              </a:lnSpc>
              <a:buNone/>
            </a:pPr>
            <a:r>
              <a:rPr lang="en-US" sz="1400" b="1" dirty="0">
                <a:solidFill>
                  <a:srgbClr val="16212E"/>
                </a:solidFill>
                <a:latin typeface="Calibri" pitchFamily="34" charset="0"/>
                <a:ea typeface="Calibri" pitchFamily="34" charset="-122"/>
                <a:cs typeface="Calibri" pitchFamily="34" charset="-120"/>
              </a:rPr>
              <a:t>Anomaly Detection</a:t>
            </a:r>
            <a:endParaRPr lang="en-US" sz="1400" dirty="0"/>
          </a:p>
        </p:txBody>
      </p:sp>
      <p:sp>
        <p:nvSpPr>
          <p:cNvPr id="23" name="Text 21"/>
          <p:cNvSpPr/>
          <p:nvPr/>
        </p:nvSpPr>
        <p:spPr>
          <a:xfrm>
            <a:off x="7545446" y="3310128"/>
            <a:ext cx="1619037" cy="1024128"/>
          </a:xfrm>
          <a:prstGeom prst="rect">
            <a:avLst/>
          </a:prstGeom>
          <a:noFill/>
          <a:ln/>
        </p:spPr>
        <p:txBody>
          <a:bodyPr wrap="square" lIns="0" tIns="0" rIns="0" bIns="0" rtlCol="0" anchor="t"/>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4 metode, konfirmasi ≥2</a:t>
            </a:r>
            <a:endParaRPr lang="en-US" sz="1150" dirty="0"/>
          </a:p>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116.225 anomali</a:t>
            </a:r>
            <a:endParaRPr lang="en-US" sz="1150" dirty="0"/>
          </a:p>
        </p:txBody>
      </p:sp>
      <p:sp>
        <p:nvSpPr>
          <p:cNvPr id="24" name="Shape 22"/>
          <p:cNvSpPr/>
          <p:nvPr/>
        </p:nvSpPr>
        <p:spPr>
          <a:xfrm>
            <a:off x="9603395" y="1938528"/>
            <a:ext cx="2021373" cy="2432304"/>
          </a:xfrm>
          <a:prstGeom prst="roundRect">
            <a:avLst>
              <a:gd name="adj" fmla="val 2714"/>
            </a:avLst>
          </a:prstGeom>
          <a:solidFill>
            <a:srgbClr val="F4F6F8"/>
          </a:solidFill>
          <a:ln/>
        </p:spPr>
      </p:sp>
      <p:sp>
        <p:nvSpPr>
          <p:cNvPr id="25" name="Shape 23"/>
          <p:cNvSpPr/>
          <p:nvPr/>
        </p:nvSpPr>
        <p:spPr>
          <a:xfrm>
            <a:off x="9804563" y="2194560"/>
            <a:ext cx="384048" cy="384048"/>
          </a:xfrm>
          <a:prstGeom prst="ellipse">
            <a:avLst/>
          </a:prstGeom>
          <a:solidFill>
            <a:srgbClr val="16212E"/>
          </a:solidFill>
          <a:ln/>
        </p:spPr>
      </p:sp>
      <p:sp>
        <p:nvSpPr>
          <p:cNvPr id="26" name="Text 24"/>
          <p:cNvSpPr/>
          <p:nvPr/>
        </p:nvSpPr>
        <p:spPr>
          <a:xfrm>
            <a:off x="9804563"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9804563" y="2761488"/>
            <a:ext cx="1619037" cy="512064"/>
          </a:xfrm>
          <a:prstGeom prst="rect">
            <a:avLst/>
          </a:prstGeom>
          <a:noFill/>
          <a:ln/>
        </p:spPr>
        <p:txBody>
          <a:bodyPr wrap="square" lIns="0" tIns="0" rIns="0" bIns="0" rtlCol="0" anchor="t"/>
          <a:lstStyle/>
          <a:p>
            <a:pPr indent="0" marL="0">
              <a:lnSpc>
                <a:spcPts val="1700"/>
              </a:lnSpc>
              <a:buNone/>
            </a:pPr>
            <a:r>
              <a:rPr lang="en-US" sz="1400" b="1" dirty="0">
                <a:solidFill>
                  <a:srgbClr val="16212E"/>
                </a:solidFill>
                <a:latin typeface="Calibri" pitchFamily="34" charset="0"/>
                <a:ea typeface="Calibri" pitchFamily="34" charset="-122"/>
                <a:cs typeface="Calibri" pitchFamily="34" charset="-120"/>
              </a:rPr>
              <a:t>Presentation</a:t>
            </a:r>
            <a:endParaRPr lang="en-US" sz="1400" dirty="0"/>
          </a:p>
        </p:txBody>
      </p:sp>
      <p:sp>
        <p:nvSpPr>
          <p:cNvPr id="28" name="Text 26"/>
          <p:cNvSpPr/>
          <p:nvPr/>
        </p:nvSpPr>
        <p:spPr>
          <a:xfrm>
            <a:off x="9804563" y="3310128"/>
            <a:ext cx="1619037" cy="1024128"/>
          </a:xfrm>
          <a:prstGeom prst="rect">
            <a:avLst/>
          </a:prstGeom>
          <a:noFill/>
          <a:ln/>
        </p:spPr>
        <p:txBody>
          <a:bodyPr wrap="square" lIns="0" tIns="0" rIns="0" bIns="0" rtlCol="0" anchor="t"/>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Dashboard Dash + laporan</a:t>
            </a:r>
            <a:endParaRPr lang="en-US" sz="1150" dirty="0"/>
          </a:p>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angka tersinkron</a:t>
            </a:r>
            <a:endParaRPr lang="en-US" sz="1150" dirty="0"/>
          </a:p>
        </p:txBody>
      </p:sp>
      <p:sp>
        <p:nvSpPr>
          <p:cNvPr id="29" name="Shape 27"/>
          <p:cNvSpPr/>
          <p:nvPr/>
        </p:nvSpPr>
        <p:spPr>
          <a:xfrm>
            <a:off x="566928" y="4645152"/>
            <a:ext cx="11057839" cy="1426464"/>
          </a:xfrm>
          <a:prstGeom prst="roundRect">
            <a:avLst>
              <a:gd name="adj" fmla="val 3846"/>
            </a:avLst>
          </a:prstGeom>
          <a:solidFill>
            <a:srgbClr val="FBF3E8"/>
          </a:solidFill>
          <a:ln/>
        </p:spPr>
      </p:sp>
      <p:sp>
        <p:nvSpPr>
          <p:cNvPr id="30" name="Text 28"/>
          <p:cNvSpPr/>
          <p:nvPr/>
        </p:nvSpPr>
        <p:spPr>
          <a:xfrm>
            <a:off x="877824" y="4846320"/>
            <a:ext cx="5120640" cy="274320"/>
          </a:xfrm>
          <a:prstGeom prst="rect">
            <a:avLst/>
          </a:prstGeom>
          <a:noFill/>
          <a:ln/>
        </p:spPr>
        <p:txBody>
          <a:bodyPr wrap="square" lIns="0" tIns="0" rIns="0" bIns="0" rtlCol="0" anchor="ctr"/>
          <a:lstStyle/>
          <a:p>
            <a:pPr indent="0" marL="0">
              <a:buNone/>
            </a:pPr>
            <a:r>
              <a:rPr lang="en-US" sz="1300" b="1" dirty="0">
                <a:solidFill>
                  <a:srgbClr val="16212E"/>
                </a:solidFill>
                <a:latin typeface="Calibri" pitchFamily="34" charset="0"/>
                <a:ea typeface="Calibri" pitchFamily="34" charset="-122"/>
                <a:cs typeface="Calibri" pitchFamily="34" charset="-120"/>
              </a:rPr>
              <a:t>Tiga prinsip yang dipegang di seluruh pipeline</a:t>
            </a:r>
            <a:endParaRPr lang="en-US" sz="1300" dirty="0"/>
          </a:p>
        </p:txBody>
      </p:sp>
      <p:sp>
        <p:nvSpPr>
          <p:cNvPr id="31" name="Text 29"/>
          <p:cNvSpPr/>
          <p:nvPr/>
        </p:nvSpPr>
        <p:spPr>
          <a:xfrm>
            <a:off x="877824" y="5175504"/>
            <a:ext cx="10436047" cy="822960"/>
          </a:xfrm>
          <a:prstGeom prst="rect">
            <a:avLst/>
          </a:prstGeom>
          <a:noFill/>
          <a:ln/>
        </p:spPr>
        <p:txBody>
          <a:bodyPr wrap="square" lIns="0" tIns="0" rIns="0" bIns="0" rtlCol="0" anchor="t"/>
          <a:lstStyle/>
          <a:p>
            <a:pPr marL="165100" indent="-165100">
              <a:lnSpc>
                <a:spcPts val="1500"/>
              </a:lnSpc>
              <a:spcAft>
                <a:spcPts val="300"/>
              </a:spcAft>
              <a:buSzPct val="100000"/>
              <a:buChar char="•"/>
            </a:pPr>
            <a:r>
              <a:rPr lang="en-US" sz="1200" dirty="0">
                <a:solidFill>
                  <a:srgbClr val="24344A"/>
                </a:solidFill>
                <a:latin typeface="Calibri" pitchFamily="34" charset="0"/>
                <a:ea typeface="Calibri" pitchFamily="34" charset="-122"/>
                <a:cs typeface="Calibri" pitchFamily="34" charset="-120"/>
              </a:rPr>
              <a:t>Tanpa data leakage — kolom pasca-origination dibuang; loan_status hanya label validasi, tidak pernah jadi fitur</a:t>
            </a:r>
            <a:endParaRPr lang="en-US" sz="1200" dirty="0"/>
          </a:p>
          <a:p>
            <a:pPr marL="165100" indent="-165100">
              <a:lnSpc>
                <a:spcPts val="1500"/>
              </a:lnSpc>
              <a:spcAft>
                <a:spcPts val="300"/>
              </a:spcAft>
              <a:buSzPct val="100000"/>
              <a:buChar char="•"/>
            </a:pPr>
            <a:r>
              <a:rPr lang="en-US" sz="1200" dirty="0">
                <a:solidFill>
                  <a:srgbClr val="24344A"/>
                </a:solidFill>
                <a:latin typeface="Calibri" pitchFamily="34" charset="0"/>
                <a:ea typeface="Calibri" pitchFamily="34" charset="-122"/>
                <a:cs typeface="Calibri" pitchFamily="34" charset="-120"/>
              </a:rPr>
              <a:t>Setiap ambang punya dasar: knee k-distance, ln(n), bracket FICO resmi, aturan Qualified Mortgage 43%</a:t>
            </a:r>
            <a:endParaRPr lang="en-US" sz="1200" dirty="0"/>
          </a:p>
          <a:p>
            <a:pPr marL="165100" indent="-165100">
              <a:lnSpc>
                <a:spcPts val="1500"/>
              </a:lnSpc>
              <a:spcAft>
                <a:spcPts val="300"/>
              </a:spcAft>
              <a:buSzPct val="100000"/>
              <a:buChar char="•"/>
            </a:pPr>
            <a:r>
              <a:rPr lang="en-US" sz="1200" dirty="0">
                <a:solidFill>
                  <a:srgbClr val="24344A"/>
                </a:solidFill>
                <a:latin typeface="Calibri" pitchFamily="34" charset="0"/>
                <a:ea typeface="Calibri" pitchFamily="34" charset="-122"/>
                <a:cs typeface="Calibri" pitchFamily="34" charset="-120"/>
              </a:rPr>
              <a:t>Seed 42 di semua langkah; versi library dikunci di requirements.txt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Justifikasi metode</a:t>
            </a:r>
            <a:endParaRPr lang="en-US" sz="1300" dirty="0"/>
          </a:p>
        </p:txBody>
      </p:sp>
      <p:sp>
        <p:nvSpPr>
          <p:cNvPr id="3" name="Text 1"/>
          <p:cNvSpPr/>
          <p:nvPr/>
        </p:nvSpPr>
        <p:spPr>
          <a:xfrm>
            <a:off x="566928" y="950976"/>
            <a:ext cx="11057839" cy="658368"/>
          </a:xfrm>
          <a:prstGeom prst="rect">
            <a:avLst/>
          </a:prstGeom>
          <a:noFill/>
          <a:ln/>
        </p:spPr>
        <p:txBody>
          <a:bodyPr wrap="square" lIns="0" tIns="0" rIns="0" bIns="0" rtlCol="0" anchor="t"/>
          <a:lstStyle/>
          <a:p>
            <a:pPr indent="0" marL="0">
              <a:lnSpc>
                <a:spcPts val="3200"/>
              </a:lnSpc>
              <a:buNone/>
            </a:pPr>
            <a:r>
              <a:rPr lang="en-US" sz="2800" b="1" dirty="0">
                <a:solidFill>
                  <a:srgbClr val="16212E"/>
                </a:solidFill>
                <a:latin typeface="Cambria" pitchFamily="34" charset="0"/>
                <a:ea typeface="Cambria" pitchFamily="34" charset="-122"/>
                <a:cs typeface="Cambria" pitchFamily="34" charset="-120"/>
              </a:rPr>
              <a:t>Alternatif yang dipertimbangkan lalu ditolak</a:t>
            </a:r>
            <a:endParaRPr lang="en-US" sz="2800" dirty="0"/>
          </a:p>
        </p:txBody>
      </p:sp>
      <p:sp>
        <p:nvSpPr>
          <p:cNvPr id="4" name="Shape 2"/>
          <p:cNvSpPr/>
          <p:nvPr/>
        </p:nvSpPr>
        <p:spPr>
          <a:xfrm>
            <a:off x="566928" y="1773936"/>
            <a:ext cx="11057839" cy="877824"/>
          </a:xfrm>
          <a:prstGeom prst="rect">
            <a:avLst/>
          </a:prstGeom>
          <a:solidFill>
            <a:srgbClr val="F4F6F8"/>
          </a:solidFill>
          <a:ln/>
        </p:spPr>
      </p:sp>
      <p:sp>
        <p:nvSpPr>
          <p:cNvPr id="5" name="Text 3"/>
          <p:cNvSpPr/>
          <p:nvPr/>
        </p:nvSpPr>
        <p:spPr>
          <a:xfrm>
            <a:off x="786384" y="1773936"/>
            <a:ext cx="3200400" cy="877824"/>
          </a:xfrm>
          <a:prstGeom prst="rect">
            <a:avLst/>
          </a:prstGeom>
          <a:noFill/>
          <a:ln/>
        </p:spPr>
        <p:txBody>
          <a:bodyPr wrap="square" lIns="0" tIns="0" rIns="0" bIns="0" rtlCol="0" anchor="ctr"/>
          <a:lstStyle/>
          <a:p>
            <a:pPr indent="0" marL="0">
              <a:lnSpc>
                <a:spcPts val="1600"/>
              </a:lnSpc>
              <a:buNone/>
            </a:pPr>
            <a:r>
              <a:rPr lang="en-US" sz="1250" b="1" dirty="0">
                <a:solidFill>
                  <a:srgbClr val="16212E"/>
                </a:solidFill>
                <a:latin typeface="Calibri" pitchFamily="34" charset="0"/>
                <a:ea typeface="Calibri" pitchFamily="34" charset="-122"/>
                <a:cs typeface="Calibri" pitchFamily="34" charset="-120"/>
              </a:rPr>
              <a:t>One-hot encoding fitur nominal</a:t>
            </a:r>
            <a:endParaRPr lang="en-US" sz="1250" dirty="0"/>
          </a:p>
        </p:txBody>
      </p:sp>
      <p:sp>
        <p:nvSpPr>
          <p:cNvPr id="6" name="Text 4"/>
          <p:cNvSpPr/>
          <p:nvPr/>
        </p:nvSpPr>
        <p:spPr>
          <a:xfrm>
            <a:off x="4096512" y="1773936"/>
            <a:ext cx="1481328" cy="877824"/>
          </a:xfrm>
          <a:prstGeom prst="rect">
            <a:avLst/>
          </a:prstGeom>
          <a:noFill/>
          <a:ln/>
        </p:spPr>
        <p:txBody>
          <a:bodyPr wrap="square" lIns="0" tIns="0" rIns="0" bIns="0" rtlCol="0" anchor="ctr"/>
          <a:lstStyle/>
          <a:p>
            <a:pPr indent="0" marL="0">
              <a:buNone/>
            </a:pPr>
            <a:r>
              <a:rPr lang="en-US" sz="1150" b="1" dirty="0">
                <a:solidFill>
                  <a:srgbClr val="C0453B"/>
                </a:solidFill>
                <a:latin typeface="Calibri" pitchFamily="34" charset="0"/>
                <a:ea typeface="Calibri" pitchFamily="34" charset="-122"/>
                <a:cs typeface="Calibri" pitchFamily="34" charset="-120"/>
              </a:rPr>
              <a:t>Ditolak</a:t>
            </a:r>
            <a:endParaRPr lang="en-US" sz="1150" dirty="0"/>
          </a:p>
        </p:txBody>
      </p:sp>
      <p:sp>
        <p:nvSpPr>
          <p:cNvPr id="7" name="Text 5"/>
          <p:cNvSpPr/>
          <p:nvPr/>
        </p:nvSpPr>
        <p:spPr>
          <a:xfrm>
            <a:off x="5650992" y="1773936"/>
            <a:ext cx="5754319" cy="877824"/>
          </a:xfrm>
          <a:prstGeom prst="rect">
            <a:avLst/>
          </a:prstGeom>
          <a:noFill/>
          <a:ln/>
        </p:spPr>
        <p:txBody>
          <a:bodyPr wrap="square" lIns="0" tIns="0" rIns="0" bIns="0" rtlCol="0" anchor="ctr"/>
          <a:lstStyle/>
          <a:p>
            <a:pPr indent="0" marL="0">
              <a:lnSpc>
                <a:spcPts val="1600"/>
              </a:lnSpc>
              <a:buNone/>
            </a:pPr>
            <a:r>
              <a:rPr lang="en-US" sz="1200" dirty="0">
                <a:solidFill>
                  <a:srgbClr val="24344A"/>
                </a:solidFill>
                <a:latin typeface="Calibri" pitchFamily="34" charset="0"/>
                <a:ea typeface="Calibri" pitchFamily="34" charset="-122"/>
                <a:cs typeface="Calibri" pitchFamily="34" charset="-120"/>
              </a:rPr>
              <a:t>mendistorsi jarak Euclidean pada clustering — kolom nominal murni dibuang dari matriks, bukan di-one-hot</a:t>
            </a:r>
            <a:endParaRPr lang="en-US" sz="1200" dirty="0"/>
          </a:p>
        </p:txBody>
      </p:sp>
      <p:sp>
        <p:nvSpPr>
          <p:cNvPr id="8" name="Text 6"/>
          <p:cNvSpPr/>
          <p:nvPr/>
        </p:nvSpPr>
        <p:spPr>
          <a:xfrm>
            <a:off x="786384" y="2651760"/>
            <a:ext cx="3200400" cy="877824"/>
          </a:xfrm>
          <a:prstGeom prst="rect">
            <a:avLst/>
          </a:prstGeom>
          <a:noFill/>
          <a:ln/>
        </p:spPr>
        <p:txBody>
          <a:bodyPr wrap="square" lIns="0" tIns="0" rIns="0" bIns="0" rtlCol="0" anchor="ctr"/>
          <a:lstStyle/>
          <a:p>
            <a:pPr indent="0" marL="0">
              <a:lnSpc>
                <a:spcPts val="1600"/>
              </a:lnSpc>
              <a:buNone/>
            </a:pPr>
            <a:r>
              <a:rPr lang="en-US" sz="1250" b="1" dirty="0">
                <a:solidFill>
                  <a:srgbClr val="16212E"/>
                </a:solidFill>
                <a:latin typeface="Calibri" pitchFamily="34" charset="0"/>
                <a:ea typeface="Calibri" pitchFamily="34" charset="-122"/>
                <a:cs typeface="Calibri" pitchFamily="34" charset="-120"/>
              </a:rPr>
              <a:t>Linkage average / single</a:t>
            </a:r>
            <a:endParaRPr lang="en-US" sz="1250" dirty="0"/>
          </a:p>
        </p:txBody>
      </p:sp>
      <p:sp>
        <p:nvSpPr>
          <p:cNvPr id="9" name="Text 7"/>
          <p:cNvSpPr/>
          <p:nvPr/>
        </p:nvSpPr>
        <p:spPr>
          <a:xfrm>
            <a:off x="4096512" y="2651760"/>
            <a:ext cx="1481328" cy="877824"/>
          </a:xfrm>
          <a:prstGeom prst="rect">
            <a:avLst/>
          </a:prstGeom>
          <a:noFill/>
          <a:ln/>
        </p:spPr>
        <p:txBody>
          <a:bodyPr wrap="square" lIns="0" tIns="0" rIns="0" bIns="0" rtlCol="0" anchor="ctr"/>
          <a:lstStyle/>
          <a:p>
            <a:pPr indent="0" marL="0">
              <a:buNone/>
            </a:pPr>
            <a:r>
              <a:rPr lang="en-US" sz="1150" b="1" dirty="0">
                <a:solidFill>
                  <a:srgbClr val="C0453B"/>
                </a:solidFill>
                <a:latin typeface="Calibri" pitchFamily="34" charset="0"/>
                <a:ea typeface="Calibri" pitchFamily="34" charset="-122"/>
                <a:cs typeface="Calibri" pitchFamily="34" charset="-120"/>
              </a:rPr>
              <a:t>Ditolak</a:t>
            </a:r>
            <a:endParaRPr lang="en-US" sz="1150" dirty="0"/>
          </a:p>
        </p:txBody>
      </p:sp>
      <p:sp>
        <p:nvSpPr>
          <p:cNvPr id="10" name="Text 8"/>
          <p:cNvSpPr/>
          <p:nvPr/>
        </p:nvSpPr>
        <p:spPr>
          <a:xfrm>
            <a:off x="5650992" y="2651760"/>
            <a:ext cx="5754319" cy="877824"/>
          </a:xfrm>
          <a:prstGeom prst="rect">
            <a:avLst/>
          </a:prstGeom>
          <a:noFill/>
          <a:ln/>
        </p:spPr>
        <p:txBody>
          <a:bodyPr wrap="square" lIns="0" tIns="0" rIns="0" bIns="0" rtlCol="0" anchor="ctr"/>
          <a:lstStyle/>
          <a:p>
            <a:pPr indent="0" marL="0">
              <a:lnSpc>
                <a:spcPts val="1600"/>
              </a:lnSpc>
              <a:buNone/>
            </a:pPr>
            <a:r>
              <a:rPr lang="en-US" sz="1200" dirty="0">
                <a:solidFill>
                  <a:srgbClr val="24344A"/>
                </a:solidFill>
                <a:latin typeface="Calibri" pitchFamily="34" charset="0"/>
                <a:ea typeface="Calibri" pitchFamily="34" charset="-122"/>
                <a:cs typeface="Calibri" pitchFamily="34" charset="-120"/>
              </a:rPr>
              <a:t>menghasilkan chaining (satu cluster raksasa + singleton) meski cophenetic-nya lebih tinggi; Ward dipilih</a:t>
            </a:r>
            <a:endParaRPr lang="en-US" sz="1200" dirty="0"/>
          </a:p>
        </p:txBody>
      </p:sp>
      <p:sp>
        <p:nvSpPr>
          <p:cNvPr id="11" name="Shape 9"/>
          <p:cNvSpPr/>
          <p:nvPr/>
        </p:nvSpPr>
        <p:spPr>
          <a:xfrm>
            <a:off x="566928" y="3529584"/>
            <a:ext cx="11057839" cy="877824"/>
          </a:xfrm>
          <a:prstGeom prst="rect">
            <a:avLst/>
          </a:prstGeom>
          <a:solidFill>
            <a:srgbClr val="F4F6F8"/>
          </a:solidFill>
          <a:ln/>
        </p:spPr>
      </p:sp>
      <p:sp>
        <p:nvSpPr>
          <p:cNvPr id="12" name="Text 10"/>
          <p:cNvSpPr/>
          <p:nvPr/>
        </p:nvSpPr>
        <p:spPr>
          <a:xfrm>
            <a:off x="786384" y="3529584"/>
            <a:ext cx="3200400" cy="877824"/>
          </a:xfrm>
          <a:prstGeom prst="rect">
            <a:avLst/>
          </a:prstGeom>
          <a:noFill/>
          <a:ln/>
        </p:spPr>
        <p:txBody>
          <a:bodyPr wrap="square" lIns="0" tIns="0" rIns="0" bIns="0" rtlCol="0" anchor="ctr"/>
          <a:lstStyle/>
          <a:p>
            <a:pPr indent="0" marL="0">
              <a:lnSpc>
                <a:spcPts val="1600"/>
              </a:lnSpc>
              <a:buNone/>
            </a:pPr>
            <a:r>
              <a:rPr lang="en-US" sz="1250" b="1" dirty="0">
                <a:solidFill>
                  <a:srgbClr val="16212E"/>
                </a:solidFill>
                <a:latin typeface="Calibri" pitchFamily="34" charset="0"/>
                <a:ea typeface="Calibri" pitchFamily="34" charset="-122"/>
                <a:cs typeface="Calibri" pitchFamily="34" charset="-120"/>
              </a:rPr>
              <a:t>Cutoff gap pada skor Isolation Forest</a:t>
            </a:r>
            <a:endParaRPr lang="en-US" sz="1250" dirty="0"/>
          </a:p>
        </p:txBody>
      </p:sp>
      <p:sp>
        <p:nvSpPr>
          <p:cNvPr id="13" name="Text 11"/>
          <p:cNvSpPr/>
          <p:nvPr/>
        </p:nvSpPr>
        <p:spPr>
          <a:xfrm>
            <a:off x="4096512" y="3529584"/>
            <a:ext cx="1481328" cy="877824"/>
          </a:xfrm>
          <a:prstGeom prst="rect">
            <a:avLst/>
          </a:prstGeom>
          <a:noFill/>
          <a:ln/>
        </p:spPr>
        <p:txBody>
          <a:bodyPr wrap="square" lIns="0" tIns="0" rIns="0" bIns="0" rtlCol="0" anchor="ctr"/>
          <a:lstStyle/>
          <a:p>
            <a:pPr indent="0" marL="0">
              <a:buNone/>
            </a:pPr>
            <a:r>
              <a:rPr lang="en-US" sz="1150" b="1" dirty="0">
                <a:solidFill>
                  <a:srgbClr val="D98324"/>
                </a:solidFill>
                <a:latin typeface="Calibri" pitchFamily="34" charset="0"/>
                <a:ea typeface="Calibri" pitchFamily="34" charset="-122"/>
                <a:cs typeface="Calibri" pitchFamily="34" charset="-120"/>
              </a:rPr>
              <a:t>Diuji, tidak dipakai</a:t>
            </a:r>
            <a:endParaRPr lang="en-US" sz="1150" dirty="0"/>
          </a:p>
        </p:txBody>
      </p:sp>
      <p:sp>
        <p:nvSpPr>
          <p:cNvPr id="14" name="Text 12"/>
          <p:cNvSpPr/>
          <p:nvPr/>
        </p:nvSpPr>
        <p:spPr>
          <a:xfrm>
            <a:off x="5650992" y="3529584"/>
            <a:ext cx="5754319" cy="877824"/>
          </a:xfrm>
          <a:prstGeom prst="rect">
            <a:avLst/>
          </a:prstGeom>
          <a:noFill/>
          <a:ln/>
        </p:spPr>
        <p:txBody>
          <a:bodyPr wrap="square" lIns="0" tIns="0" rIns="0" bIns="0" rtlCol="0" anchor="ctr"/>
          <a:lstStyle/>
          <a:p>
            <a:pPr indent="0" marL="0">
              <a:lnSpc>
                <a:spcPts val="1600"/>
              </a:lnSpc>
              <a:buNone/>
            </a:pPr>
            <a:r>
              <a:rPr lang="en-US" sz="1200" dirty="0">
                <a:solidFill>
                  <a:srgbClr val="24344A"/>
                </a:solidFill>
                <a:latin typeface="Calibri" pitchFamily="34" charset="0"/>
                <a:ea typeface="Calibri" pitchFamily="34" charset="-122"/>
                <a:cs typeface="Calibri" pitchFamily="34" charset="-120"/>
              </a:rPr>
              <a:t>kurva skor mulus, lokasi gap berpindah saat window digeser; contamination 1% dipertahankan</a:t>
            </a:r>
            <a:endParaRPr lang="en-US" sz="1200" dirty="0"/>
          </a:p>
        </p:txBody>
      </p:sp>
      <p:sp>
        <p:nvSpPr>
          <p:cNvPr id="15" name="Text 13"/>
          <p:cNvSpPr/>
          <p:nvPr/>
        </p:nvSpPr>
        <p:spPr>
          <a:xfrm>
            <a:off x="786384" y="4407408"/>
            <a:ext cx="3200400" cy="877824"/>
          </a:xfrm>
          <a:prstGeom prst="rect">
            <a:avLst/>
          </a:prstGeom>
          <a:noFill/>
          <a:ln/>
        </p:spPr>
        <p:txBody>
          <a:bodyPr wrap="square" lIns="0" tIns="0" rIns="0" bIns="0" rtlCol="0" anchor="ctr"/>
          <a:lstStyle/>
          <a:p>
            <a:pPr indent="0" marL="0">
              <a:lnSpc>
                <a:spcPts val="1600"/>
              </a:lnSpc>
              <a:buNone/>
            </a:pPr>
            <a:r>
              <a:rPr lang="en-US" sz="1250" b="1" dirty="0">
                <a:solidFill>
                  <a:srgbClr val="16212E"/>
                </a:solidFill>
                <a:latin typeface="Calibri" pitchFamily="34" charset="0"/>
                <a:ea typeface="Calibri" pitchFamily="34" charset="-122"/>
                <a:cs typeface="Calibri" pitchFamily="34" charset="-120"/>
              </a:rPr>
              <a:t>Buang kolom semata karena banyak kosong</a:t>
            </a:r>
            <a:endParaRPr lang="en-US" sz="1250" dirty="0"/>
          </a:p>
        </p:txBody>
      </p:sp>
      <p:sp>
        <p:nvSpPr>
          <p:cNvPr id="16" name="Text 14"/>
          <p:cNvSpPr/>
          <p:nvPr/>
        </p:nvSpPr>
        <p:spPr>
          <a:xfrm>
            <a:off x="4096512" y="4407408"/>
            <a:ext cx="1481328" cy="877824"/>
          </a:xfrm>
          <a:prstGeom prst="rect">
            <a:avLst/>
          </a:prstGeom>
          <a:noFill/>
          <a:ln/>
        </p:spPr>
        <p:txBody>
          <a:bodyPr wrap="square" lIns="0" tIns="0" rIns="0" bIns="0" rtlCol="0" anchor="ctr"/>
          <a:lstStyle/>
          <a:p>
            <a:pPr indent="0" marL="0">
              <a:buNone/>
            </a:pPr>
            <a:r>
              <a:rPr lang="en-US" sz="1150" b="1" dirty="0">
                <a:solidFill>
                  <a:srgbClr val="C0453B"/>
                </a:solidFill>
                <a:latin typeface="Calibri" pitchFamily="34" charset="0"/>
                <a:ea typeface="Calibri" pitchFamily="34" charset="-122"/>
                <a:cs typeface="Calibri" pitchFamily="34" charset="-120"/>
              </a:rPr>
              <a:t>Ditolak</a:t>
            </a:r>
            <a:endParaRPr lang="en-US" sz="1150" dirty="0"/>
          </a:p>
        </p:txBody>
      </p:sp>
      <p:sp>
        <p:nvSpPr>
          <p:cNvPr id="17" name="Text 15"/>
          <p:cNvSpPr/>
          <p:nvPr/>
        </p:nvSpPr>
        <p:spPr>
          <a:xfrm>
            <a:off x="5650992" y="4407408"/>
            <a:ext cx="5754319" cy="877824"/>
          </a:xfrm>
          <a:prstGeom prst="rect">
            <a:avLst/>
          </a:prstGeom>
          <a:noFill/>
          <a:ln/>
        </p:spPr>
        <p:txBody>
          <a:bodyPr wrap="square" lIns="0" tIns="0" rIns="0" bIns="0" rtlCol="0" anchor="ctr"/>
          <a:lstStyle/>
          <a:p>
            <a:pPr indent="0" marL="0">
              <a:lnSpc>
                <a:spcPts val="1600"/>
              </a:lnSpc>
              <a:buNone/>
            </a:pPr>
            <a:r>
              <a:rPr lang="en-US" sz="1200" dirty="0">
                <a:solidFill>
                  <a:srgbClr val="24344A"/>
                </a:solidFill>
                <a:latin typeface="Calibri" pitchFamily="34" charset="0"/>
                <a:ea typeface="Calibri" pitchFamily="34" charset="-122"/>
                <a:cs typeface="Calibri" pitchFamily="34" charset="-120"/>
              </a:rPr>
              <a:t>mekanisme missing diverifikasi dulu — structural missing diisi sentinel 999 + flag, bukan dibuang</a:t>
            </a:r>
            <a:endParaRPr lang="en-US" sz="1200" dirty="0"/>
          </a:p>
        </p:txBody>
      </p:sp>
      <p:sp>
        <p:nvSpPr>
          <p:cNvPr id="18" name="Shape 16"/>
          <p:cNvSpPr/>
          <p:nvPr/>
        </p:nvSpPr>
        <p:spPr>
          <a:xfrm>
            <a:off x="566928" y="5285232"/>
            <a:ext cx="11057839" cy="877824"/>
          </a:xfrm>
          <a:prstGeom prst="rect">
            <a:avLst/>
          </a:prstGeom>
          <a:solidFill>
            <a:srgbClr val="F4F6F8"/>
          </a:solidFill>
          <a:ln/>
        </p:spPr>
      </p:sp>
      <p:sp>
        <p:nvSpPr>
          <p:cNvPr id="19" name="Text 17"/>
          <p:cNvSpPr/>
          <p:nvPr/>
        </p:nvSpPr>
        <p:spPr>
          <a:xfrm>
            <a:off x="786384" y="5285232"/>
            <a:ext cx="3200400" cy="877824"/>
          </a:xfrm>
          <a:prstGeom prst="rect">
            <a:avLst/>
          </a:prstGeom>
          <a:noFill/>
          <a:ln/>
        </p:spPr>
        <p:txBody>
          <a:bodyPr wrap="square" lIns="0" tIns="0" rIns="0" bIns="0" rtlCol="0" anchor="ctr"/>
          <a:lstStyle/>
          <a:p>
            <a:pPr indent="0" marL="0">
              <a:lnSpc>
                <a:spcPts val="1600"/>
              </a:lnSpc>
              <a:buNone/>
            </a:pPr>
            <a:r>
              <a:rPr lang="en-US" sz="1250" b="1" dirty="0">
                <a:solidFill>
                  <a:srgbClr val="16212E"/>
                </a:solidFill>
                <a:latin typeface="Calibri" pitchFamily="34" charset="0"/>
                <a:ea typeface="Calibri" pitchFamily="34" charset="-122"/>
                <a:cs typeface="Calibri" pitchFamily="34" charset="-120"/>
              </a:rPr>
              <a:t>Diskretisasi kuantil untuk ARM</a:t>
            </a:r>
            <a:endParaRPr lang="en-US" sz="1250" dirty="0"/>
          </a:p>
        </p:txBody>
      </p:sp>
      <p:sp>
        <p:nvSpPr>
          <p:cNvPr id="20" name="Text 18"/>
          <p:cNvSpPr/>
          <p:nvPr/>
        </p:nvSpPr>
        <p:spPr>
          <a:xfrm>
            <a:off x="4096512" y="5285232"/>
            <a:ext cx="1481328" cy="877824"/>
          </a:xfrm>
          <a:prstGeom prst="rect">
            <a:avLst/>
          </a:prstGeom>
          <a:noFill/>
          <a:ln/>
        </p:spPr>
        <p:txBody>
          <a:bodyPr wrap="square" lIns="0" tIns="0" rIns="0" bIns="0" rtlCol="0" anchor="ctr"/>
          <a:lstStyle/>
          <a:p>
            <a:pPr indent="0" marL="0">
              <a:buNone/>
            </a:pPr>
            <a:r>
              <a:rPr lang="en-US" sz="1150" b="1" dirty="0">
                <a:solidFill>
                  <a:srgbClr val="C0453B"/>
                </a:solidFill>
                <a:latin typeface="Calibri" pitchFamily="34" charset="0"/>
                <a:ea typeface="Calibri" pitchFamily="34" charset="-122"/>
                <a:cs typeface="Calibri" pitchFamily="34" charset="-120"/>
              </a:rPr>
              <a:t>Ditolak</a:t>
            </a:r>
            <a:endParaRPr lang="en-US" sz="1150" dirty="0"/>
          </a:p>
        </p:txBody>
      </p:sp>
      <p:sp>
        <p:nvSpPr>
          <p:cNvPr id="21" name="Text 19"/>
          <p:cNvSpPr/>
          <p:nvPr/>
        </p:nvSpPr>
        <p:spPr>
          <a:xfrm>
            <a:off x="5650992" y="5285232"/>
            <a:ext cx="5754319" cy="877824"/>
          </a:xfrm>
          <a:prstGeom prst="rect">
            <a:avLst/>
          </a:prstGeom>
          <a:noFill/>
          <a:ln/>
        </p:spPr>
        <p:txBody>
          <a:bodyPr wrap="square" lIns="0" tIns="0" rIns="0" bIns="0" rtlCol="0" anchor="ctr"/>
          <a:lstStyle/>
          <a:p>
            <a:pPr indent="0" marL="0">
              <a:lnSpc>
                <a:spcPts val="1600"/>
              </a:lnSpc>
              <a:buNone/>
            </a:pPr>
            <a:r>
              <a:rPr lang="en-US" sz="1200" dirty="0">
                <a:solidFill>
                  <a:srgbClr val="24344A"/>
                </a:solidFill>
                <a:latin typeface="Calibri" pitchFamily="34" charset="0"/>
                <a:ea typeface="Calibri" pitchFamily="34" charset="-122"/>
                <a:cs typeface="Calibri" pitchFamily="34" charset="-120"/>
              </a:rPr>
              <a:t>ambang tanpa makna domain; dipakai bracket FICO, DTI 43%, utilisasi 30%</a:t>
            </a:r>
            <a:endParaRPr lang="en-US" sz="1200" dirty="0"/>
          </a:p>
        </p:txBody>
      </p:sp>
      <p:sp>
        <p:nvSpPr>
          <p:cNvPr id="22" name="Text 20"/>
          <p:cNvSpPr/>
          <p:nvPr/>
        </p:nvSpPr>
        <p:spPr>
          <a:xfrm>
            <a:off x="566928" y="6382512"/>
            <a:ext cx="11057839" cy="274320"/>
          </a:xfrm>
          <a:prstGeom prst="rect">
            <a:avLst/>
          </a:prstGeom>
          <a:noFill/>
          <a:ln/>
        </p:spPr>
        <p:txBody>
          <a:bodyPr wrap="square" lIns="0" tIns="0" rIns="0" bIns="0" rtlCol="0" anchor="ctr"/>
          <a:lstStyle/>
          <a:p>
            <a:pPr indent="0" marL="0">
              <a:buNone/>
            </a:pPr>
            <a:r>
              <a:rPr lang="en-US" sz="950" dirty="0">
                <a:solidFill>
                  <a:srgbClr val="6B7A8D"/>
                </a:solidFill>
                <a:latin typeface="Calibri" pitchFamily="34" charset="0"/>
                <a:ea typeface="Calibri" pitchFamily="34" charset="-122"/>
                <a:cs typeface="Calibri" pitchFamily="34" charset="-120"/>
              </a:rPr>
              <a:t>Rincian lengkap tiap keputusan ada di notebook Phase 1–4 dan Bagian 2 laporan.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329184" cy="329184"/>
          </a:xfrm>
          <a:prstGeom prst="ellipse">
            <a:avLst/>
          </a:prstGeom>
          <a:solidFill>
            <a:srgbClr val="C0453B"/>
          </a:solidFill>
          <a:ln/>
        </p:spPr>
      </p:sp>
      <p:sp>
        <p:nvSpPr>
          <p:cNvPr id="3" name="Text 1"/>
          <p:cNvSpPr/>
          <p:nvPr/>
        </p:nvSpPr>
        <p:spPr>
          <a:xfrm>
            <a:off x="566928" y="402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p:nvPr/>
        </p:nvSpPr>
        <p:spPr>
          <a:xfrm>
            <a:off x="1005840" y="402336"/>
            <a:ext cx="6858000" cy="329184"/>
          </a:xfrm>
          <a:prstGeom prst="rect">
            <a:avLst/>
          </a:prstGeom>
          <a:noFill/>
          <a:ln/>
        </p:spPr>
        <p:txBody>
          <a:bodyPr wrap="square" lIns="0" tIns="0" rIns="0" bIns="0" rtlCol="0" anchor="ctr"/>
          <a:lstStyle/>
          <a:p>
            <a:pPr indent="0" marL="0">
              <a:buNone/>
            </a:pPr>
            <a:r>
              <a:rPr lang="en-US" sz="1250" b="1" spc="120" kern="0" dirty="0">
                <a:solidFill>
                  <a:srgbClr val="6B7A8D"/>
                </a:solidFill>
                <a:latin typeface="Calibri" pitchFamily="34" charset="0"/>
                <a:ea typeface="Calibri" pitchFamily="34" charset="-122"/>
                <a:cs typeface="Calibri" pitchFamily="34" charset="-120"/>
              </a:rPr>
              <a:t>TEMUAN 1  ·  CLUSTERING</a:t>
            </a:r>
            <a:endParaRPr lang="en-US" sz="1250" dirty="0"/>
          </a:p>
        </p:txBody>
      </p:sp>
      <p:sp>
        <p:nvSpPr>
          <p:cNvPr id="5" name="Text 3"/>
          <p:cNvSpPr/>
          <p:nvPr/>
        </p:nvSpPr>
        <p:spPr>
          <a:xfrm>
            <a:off x="566928" y="914400"/>
            <a:ext cx="11057839" cy="658368"/>
          </a:xfrm>
          <a:prstGeom prst="rect">
            <a:avLst/>
          </a:prstGeom>
          <a:noFill/>
          <a:ln/>
        </p:spPr>
        <p:txBody>
          <a:bodyPr wrap="square" lIns="0" tIns="0" rIns="0" bIns="0" rtlCol="0" anchor="t"/>
          <a:lstStyle/>
          <a:p>
            <a:pPr indent="0" marL="0">
              <a:lnSpc>
                <a:spcPts val="3200"/>
              </a:lnSpc>
              <a:buNone/>
            </a:pPr>
            <a:r>
              <a:rPr lang="en-US" sz="2700" b="1" dirty="0">
                <a:solidFill>
                  <a:srgbClr val="16212E"/>
                </a:solidFill>
                <a:latin typeface="Cambria" pitchFamily="34" charset="0"/>
                <a:ea typeface="Cambria" pitchFamily="34" charset="-122"/>
                <a:cs typeface="Cambria" pitchFamily="34" charset="-120"/>
              </a:rPr>
              <a:t>Risiko terkonsentrasi pada segmen mayoritas</a:t>
            </a:r>
            <a:endParaRPr lang="en-US" sz="2700" dirty="0"/>
          </a:p>
        </p:txBody>
      </p:sp>
      <p:sp>
        <p:nvSpPr>
          <p:cNvPr id="6" name="Text 4"/>
          <p:cNvSpPr/>
          <p:nvPr/>
        </p:nvSpPr>
        <p:spPr>
          <a:xfrm>
            <a:off x="566928" y="1554480"/>
            <a:ext cx="11057839" cy="329184"/>
          </a:xfrm>
          <a:prstGeom prst="rect">
            <a:avLst/>
          </a:prstGeom>
          <a:noFill/>
          <a:ln/>
        </p:spPr>
        <p:txBody>
          <a:bodyPr wrap="square" lIns="0" tIns="0" rIns="0" bIns="0" rtlCol="0" anchor="ctr"/>
          <a:lstStyle/>
          <a:p>
            <a:pPr indent="0" marL="0">
              <a:buNone/>
            </a:pPr>
            <a:r>
              <a:rPr lang="en-US" sz="1400" dirty="0">
                <a:solidFill>
                  <a:srgbClr val="24344A"/>
                </a:solidFill>
                <a:latin typeface="Calibri" pitchFamily="34" charset="0"/>
                <a:ea typeface="Calibri" pitchFamily="34" charset="-122"/>
                <a:cs typeface="Calibri" pitchFamily="34" charset="-120"/>
              </a:rPr>
              <a:t>62,2% peminjam berada di satu segmen dengan charged-off 14,4% — hampir dua kali segmen prime (7,7%).</a:t>
            </a:r>
            <a:endParaRPr lang="en-US" sz="1400" dirty="0"/>
          </a:p>
        </p:txBody>
      </p:sp>
      <p:pic>
        <p:nvPicPr>
          <p:cNvPr id="7" name="Image 0" descr="/tmp/deck/img/sd_gap.png">    </p:cNvPr>
          <p:cNvPicPr>
            <a:picLocks noChangeAspect="1"/>
          </p:cNvPicPr>
          <p:nvPr/>
        </p:nvPicPr>
        <p:blipFill>
          <a:blip r:embed="rId1"/>
          <a:stretch>
            <a:fillRect/>
          </a:stretch>
        </p:blipFill>
        <p:spPr>
          <a:xfrm>
            <a:off x="566928" y="2011680"/>
            <a:ext cx="6400800" cy="3291840"/>
          </a:xfrm>
          <a:prstGeom prst="rect">
            <a:avLst/>
          </a:prstGeom>
        </p:spPr>
      </p:pic>
      <p:pic>
        <p:nvPicPr>
          <p:cNvPr id="8" name="Image 1" descr="/tmp/deck/img/charged_off.png">    </p:cNvPr>
          <p:cNvPicPr>
            <a:picLocks noChangeAspect="1"/>
          </p:cNvPicPr>
          <p:nvPr/>
        </p:nvPicPr>
        <p:blipFill>
          <a:blip r:embed="rId2"/>
          <a:stretch>
            <a:fillRect/>
          </a:stretch>
        </p:blipFill>
        <p:spPr>
          <a:xfrm>
            <a:off x="7178040" y="2011680"/>
            <a:ext cx="4443984" cy="3273552"/>
          </a:xfrm>
          <a:prstGeom prst="rect">
            <a:avLst/>
          </a:prstGeom>
        </p:spPr>
      </p:pic>
      <p:sp>
        <p:nvSpPr>
          <p:cNvPr id="9" name="Shape 5"/>
          <p:cNvSpPr/>
          <p:nvPr/>
        </p:nvSpPr>
        <p:spPr>
          <a:xfrm>
            <a:off x="566928" y="5504688"/>
            <a:ext cx="11057839" cy="603504"/>
          </a:xfrm>
          <a:prstGeom prst="roundRect">
            <a:avLst>
              <a:gd name="adj" fmla="val 9091"/>
            </a:avLst>
          </a:prstGeom>
          <a:solidFill>
            <a:srgbClr val="F4F6F8"/>
          </a:solidFill>
          <a:ln/>
        </p:spPr>
      </p:sp>
      <p:sp>
        <p:nvSpPr>
          <p:cNvPr id="10" name="Text 6"/>
          <p:cNvSpPr/>
          <p:nvPr/>
        </p:nvSpPr>
        <p:spPr>
          <a:xfrm>
            <a:off x="822960" y="5504688"/>
            <a:ext cx="10545775" cy="603504"/>
          </a:xfrm>
          <a:prstGeom prst="rect">
            <a:avLst/>
          </a:prstGeom>
          <a:noFill/>
          <a:ln/>
        </p:spPr>
        <p:txBody>
          <a:bodyPr wrap="square" lIns="0" tIns="0" rIns="0" bIns="0" rtlCol="0" anchor="ctr"/>
          <a:lstStyle/>
          <a:p>
            <a:pPr indent="0" marL="0">
              <a:lnSpc>
                <a:spcPts val="1500"/>
              </a:lnSpc>
              <a:buNone/>
            </a:pPr>
            <a:r>
              <a:rPr lang="en-US" sz="1150" b="1" dirty="0">
                <a:solidFill>
                  <a:srgbClr val="16212E"/>
                </a:solidFill>
                <a:latin typeface="Calibri" pitchFamily="34" charset="0"/>
                <a:ea typeface="Calibri" pitchFamily="34" charset="-122"/>
                <a:cs typeface="Calibri" pitchFamily="34" charset="-120"/>
              </a:rPr>
              <a:t>Bacaan yang keliru kalau memakai angka nominal: </a:t>
            </a:r>
            <a:pPr indent="0" marL="0">
              <a:lnSpc>
                <a:spcPts val="1500"/>
              </a:lnSpc>
              <a:buNone/>
            </a:pPr>
            <a:r>
              <a:rPr lang="en-US" sz="1150" dirty="0">
                <a:solidFill>
                  <a:srgbClr val="16212E"/>
                </a:solidFill>
                <a:latin typeface="Calibri" pitchFamily="34" charset="0"/>
                <a:ea typeface="Calibri" pitchFamily="34" charset="-122"/>
                <a:cs typeface="Calibri" pitchFamily="34" charset="-120"/>
              </a:rPr>
              <a:t>gap penghasilan tampak paling besar (USD 63rb vs 102rb), padahal dalam satuan simpangan baku ia justru pemisah paling lemah — variansnya terlalu lebar.</a:t>
            </a:r>
            <a:endParaRPr lang="en-US" sz="1150" dirty="0"/>
          </a:p>
        </p:txBody>
      </p:sp>
      <p:sp>
        <p:nvSpPr>
          <p:cNvPr id="11" name="Text 7"/>
          <p:cNvSpPr/>
          <p:nvPr/>
        </p:nvSpPr>
        <p:spPr>
          <a:xfrm>
            <a:off x="566928" y="6382512"/>
            <a:ext cx="11057839" cy="274320"/>
          </a:xfrm>
          <a:prstGeom prst="rect">
            <a:avLst/>
          </a:prstGeom>
          <a:noFill/>
          <a:ln/>
        </p:spPr>
        <p:txBody>
          <a:bodyPr wrap="square" lIns="0" tIns="0" rIns="0" bIns="0" rtlCol="0" anchor="ctr"/>
          <a:lstStyle/>
          <a:p>
            <a:pPr indent="0" marL="0">
              <a:buNone/>
            </a:pPr>
            <a:r>
              <a:rPr lang="en-US" sz="950" dirty="0">
                <a:solidFill>
                  <a:srgbClr val="6B7A8D"/>
                </a:solidFill>
                <a:latin typeface="Calibri" pitchFamily="34" charset="0"/>
                <a:ea typeface="Calibri" pitchFamily="34" charset="-122"/>
                <a:cs typeface="Calibri" pitchFamily="34" charset="-120"/>
              </a:rPr>
              <a:t>K-Means (MiniBatch) pada ruang PCA 9 komponen · n = 2.260.668 · selisih z-score antar centroid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329184" cy="329184"/>
          </a:xfrm>
          <a:prstGeom prst="ellipse">
            <a:avLst/>
          </a:prstGeom>
          <a:solidFill>
            <a:srgbClr val="C0453B"/>
          </a:solidFill>
          <a:ln/>
        </p:spPr>
      </p:sp>
      <p:sp>
        <p:nvSpPr>
          <p:cNvPr id="3" name="Text 1"/>
          <p:cNvSpPr/>
          <p:nvPr/>
        </p:nvSpPr>
        <p:spPr>
          <a:xfrm>
            <a:off x="566928" y="402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p:nvPr/>
        </p:nvSpPr>
        <p:spPr>
          <a:xfrm>
            <a:off x="1005840" y="402336"/>
            <a:ext cx="6858000" cy="329184"/>
          </a:xfrm>
          <a:prstGeom prst="rect">
            <a:avLst/>
          </a:prstGeom>
          <a:noFill/>
          <a:ln/>
        </p:spPr>
        <p:txBody>
          <a:bodyPr wrap="square" lIns="0" tIns="0" rIns="0" bIns="0" rtlCol="0" anchor="ctr"/>
          <a:lstStyle/>
          <a:p>
            <a:pPr indent="0" marL="0">
              <a:buNone/>
            </a:pPr>
            <a:r>
              <a:rPr lang="en-US" sz="1250" b="1" spc="120" kern="0" dirty="0">
                <a:solidFill>
                  <a:srgbClr val="6B7A8D"/>
                </a:solidFill>
                <a:latin typeface="Calibri" pitchFamily="34" charset="0"/>
                <a:ea typeface="Calibri" pitchFamily="34" charset="-122"/>
                <a:cs typeface="Calibri" pitchFamily="34" charset="-120"/>
              </a:rPr>
              <a:t>TEMUAN 1  ·  KORROBORASI &amp; AKSI</a:t>
            </a:r>
            <a:endParaRPr lang="en-US" sz="1250" dirty="0"/>
          </a:p>
        </p:txBody>
      </p:sp>
      <p:sp>
        <p:nvSpPr>
          <p:cNvPr id="5" name="Text 3"/>
          <p:cNvSpPr/>
          <p:nvPr/>
        </p:nvSpPr>
        <p:spPr>
          <a:xfrm>
            <a:off x="566928" y="914400"/>
            <a:ext cx="11057839" cy="658368"/>
          </a:xfrm>
          <a:prstGeom prst="rect">
            <a:avLst/>
          </a:prstGeom>
          <a:noFill/>
          <a:ln/>
        </p:spPr>
        <p:txBody>
          <a:bodyPr wrap="square" lIns="0" tIns="0" rIns="0" bIns="0" rtlCol="0" anchor="t"/>
          <a:lstStyle/>
          <a:p>
            <a:pPr indent="0" marL="0">
              <a:lnSpc>
                <a:spcPts val="3200"/>
              </a:lnSpc>
              <a:buNone/>
            </a:pPr>
            <a:r>
              <a:rPr lang="en-US" sz="2700" b="1" dirty="0">
                <a:solidFill>
                  <a:srgbClr val="16212E"/>
                </a:solidFill>
                <a:latin typeface="Cambria" pitchFamily="34" charset="0"/>
                <a:ea typeface="Cambria" pitchFamily="34" charset="-122"/>
                <a:cs typeface="Cambria" pitchFamily="34" charset="-120"/>
              </a:rPr>
              <a:t>Dikonfirmasi metode kedua, bukan satu output</a:t>
            </a:r>
            <a:endParaRPr lang="en-US" sz="2700" dirty="0"/>
          </a:p>
        </p:txBody>
      </p:sp>
      <p:pic>
        <p:nvPicPr>
          <p:cNvPr id="6" name="Image 0" descr="/tmp/deck/img/umap_cluster_map.png">    </p:cNvPr>
          <p:cNvPicPr>
            <a:picLocks noChangeAspect="1"/>
          </p:cNvPicPr>
          <p:nvPr/>
        </p:nvPicPr>
        <p:blipFill>
          <a:blip r:embed="rId1"/>
          <a:stretch>
            <a:fillRect/>
          </a:stretch>
        </p:blipFill>
        <p:spPr>
          <a:xfrm>
            <a:off x="566928" y="1755648"/>
            <a:ext cx="6035040" cy="4279392"/>
          </a:xfrm>
          <a:prstGeom prst="rect">
            <a:avLst/>
          </a:prstGeom>
        </p:spPr>
      </p:pic>
      <p:sp>
        <p:nvSpPr>
          <p:cNvPr id="7" name="Shape 4"/>
          <p:cNvSpPr/>
          <p:nvPr/>
        </p:nvSpPr>
        <p:spPr>
          <a:xfrm>
            <a:off x="6812280" y="1792224"/>
            <a:ext cx="2287372" cy="1097280"/>
          </a:xfrm>
          <a:prstGeom prst="roundRect">
            <a:avLst>
              <a:gd name="adj" fmla="val 5000"/>
            </a:avLst>
          </a:prstGeom>
          <a:solidFill>
            <a:srgbClr val="F4F6F8"/>
          </a:solidFill>
          <a:ln/>
        </p:spPr>
      </p:sp>
      <p:sp>
        <p:nvSpPr>
          <p:cNvPr id="8" name="Text 5"/>
          <p:cNvSpPr/>
          <p:nvPr/>
        </p:nvSpPr>
        <p:spPr>
          <a:xfrm>
            <a:off x="6976872" y="1920240"/>
            <a:ext cx="1958188" cy="548640"/>
          </a:xfrm>
          <a:prstGeom prst="rect">
            <a:avLst/>
          </a:prstGeom>
          <a:noFill/>
          <a:ln/>
        </p:spPr>
        <p:txBody>
          <a:bodyPr wrap="square" lIns="0" tIns="0" rIns="0" bIns="0" rtlCol="0" anchor="ctr"/>
          <a:lstStyle/>
          <a:p>
            <a:pPr algn="l" indent="0" marL="0">
              <a:buNone/>
            </a:pPr>
            <a:r>
              <a:rPr lang="en-US" sz="2600" b="1" dirty="0">
                <a:solidFill>
                  <a:srgbClr val="16212E"/>
                </a:solidFill>
                <a:latin typeface="Cambria" pitchFamily="34" charset="0"/>
                <a:ea typeface="Cambria" pitchFamily="34" charset="-122"/>
                <a:cs typeface="Cambria" pitchFamily="34" charset="-120"/>
              </a:rPr>
              <a:t>0,365</a:t>
            </a:r>
            <a:endParaRPr lang="en-US" sz="2600" dirty="0"/>
          </a:p>
        </p:txBody>
      </p:sp>
      <p:sp>
        <p:nvSpPr>
          <p:cNvPr id="9" name="Text 6"/>
          <p:cNvSpPr/>
          <p:nvPr/>
        </p:nvSpPr>
        <p:spPr>
          <a:xfrm>
            <a:off x="6976872" y="2428646"/>
            <a:ext cx="1958188" cy="395021"/>
          </a:xfrm>
          <a:prstGeom prst="rect">
            <a:avLst/>
          </a:prstGeom>
          <a:noFill/>
          <a:ln/>
        </p:spPr>
        <p:txBody>
          <a:bodyPr wrap="square" lIns="0" tIns="0" rIns="0" bIns="0" rtlCol="0" anchor="t"/>
          <a:lstStyle/>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Adjusted Rand Index</a:t>
            </a:r>
            <a:endParaRPr lang="en-US" sz="1150" dirty="0"/>
          </a:p>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K-Means vs Ward</a:t>
            </a:r>
            <a:endParaRPr lang="en-US" sz="1150" dirty="0"/>
          </a:p>
        </p:txBody>
      </p:sp>
      <p:sp>
        <p:nvSpPr>
          <p:cNvPr id="10" name="Shape 7"/>
          <p:cNvSpPr/>
          <p:nvPr/>
        </p:nvSpPr>
        <p:spPr>
          <a:xfrm>
            <a:off x="9337396" y="1792224"/>
            <a:ext cx="2287372" cy="1097280"/>
          </a:xfrm>
          <a:prstGeom prst="roundRect">
            <a:avLst>
              <a:gd name="adj" fmla="val 5000"/>
            </a:avLst>
          </a:prstGeom>
          <a:solidFill>
            <a:srgbClr val="F4F6F8"/>
          </a:solidFill>
          <a:ln/>
        </p:spPr>
      </p:sp>
      <p:sp>
        <p:nvSpPr>
          <p:cNvPr id="11" name="Text 8"/>
          <p:cNvSpPr/>
          <p:nvPr/>
        </p:nvSpPr>
        <p:spPr>
          <a:xfrm>
            <a:off x="9501988" y="1920240"/>
            <a:ext cx="1958188" cy="548640"/>
          </a:xfrm>
          <a:prstGeom prst="rect">
            <a:avLst/>
          </a:prstGeom>
          <a:noFill/>
          <a:ln/>
        </p:spPr>
        <p:txBody>
          <a:bodyPr wrap="square" lIns="0" tIns="0" rIns="0" bIns="0" rtlCol="0" anchor="ctr"/>
          <a:lstStyle/>
          <a:p>
            <a:pPr algn="l" indent="0" marL="0">
              <a:buNone/>
            </a:pPr>
            <a:r>
              <a:rPr lang="en-US" sz="2600" b="1" dirty="0">
                <a:solidFill>
                  <a:srgbClr val="16212E"/>
                </a:solidFill>
                <a:latin typeface="Cambria" pitchFamily="34" charset="0"/>
                <a:ea typeface="Cambria" pitchFamily="34" charset="-122"/>
                <a:cs typeface="Cambria" pitchFamily="34" charset="-120"/>
              </a:rPr>
              <a:t>0,161</a:t>
            </a:r>
            <a:endParaRPr lang="en-US" sz="2600" dirty="0"/>
          </a:p>
        </p:txBody>
      </p:sp>
      <p:sp>
        <p:nvSpPr>
          <p:cNvPr id="12" name="Text 9"/>
          <p:cNvSpPr/>
          <p:nvPr/>
        </p:nvSpPr>
        <p:spPr>
          <a:xfrm>
            <a:off x="9501988" y="2428646"/>
            <a:ext cx="1958188" cy="395021"/>
          </a:xfrm>
          <a:prstGeom prst="rect">
            <a:avLst/>
          </a:prstGeom>
          <a:noFill/>
          <a:ln/>
        </p:spPr>
        <p:txBody>
          <a:bodyPr wrap="square" lIns="0" tIns="0" rIns="0" bIns="0" rtlCol="0" anchor="t"/>
          <a:lstStyle/>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Silhouette</a:t>
            </a:r>
            <a:endParaRPr lang="en-US" sz="1150" dirty="0"/>
          </a:p>
          <a:p>
            <a:pPr algn="l" indent="0" marL="0">
              <a:lnSpc>
                <a:spcPts val="1400"/>
              </a:lnSpc>
              <a:buNone/>
            </a:pPr>
            <a:r>
              <a:rPr lang="en-US" sz="1150" dirty="0">
                <a:solidFill>
                  <a:srgbClr val="6B7A8D"/>
                </a:solidFill>
                <a:latin typeface="Calibri" pitchFamily="34" charset="0"/>
                <a:ea typeface="Calibri" pitchFamily="34" charset="-122"/>
                <a:cs typeface="Calibri" pitchFamily="34" charset="-120"/>
              </a:rPr>
              <a:t>(deviasi 0,010)</a:t>
            </a:r>
            <a:endParaRPr lang="en-US" sz="1150" dirty="0"/>
          </a:p>
        </p:txBody>
      </p:sp>
      <p:sp>
        <p:nvSpPr>
          <p:cNvPr id="13" name="Text 10"/>
          <p:cNvSpPr/>
          <p:nvPr/>
        </p:nvSpPr>
        <p:spPr>
          <a:xfrm>
            <a:off x="6812280" y="3127248"/>
            <a:ext cx="4812487" cy="274320"/>
          </a:xfrm>
          <a:prstGeom prst="rect">
            <a:avLst/>
          </a:prstGeom>
          <a:noFill/>
          <a:ln/>
        </p:spPr>
        <p:txBody>
          <a:bodyPr wrap="square" lIns="0" tIns="0" rIns="0" bIns="0" rtlCol="0" anchor="ctr"/>
          <a:lstStyle/>
          <a:p>
            <a:pPr indent="0" marL="0">
              <a:buNone/>
            </a:pPr>
            <a:r>
              <a:rPr lang="en-US" sz="1300" b="1" dirty="0">
                <a:solidFill>
                  <a:srgbClr val="16212E"/>
                </a:solidFill>
                <a:latin typeface="Calibri" pitchFamily="34" charset="0"/>
                <a:ea typeface="Calibri" pitchFamily="34" charset="-122"/>
                <a:cs typeface="Calibri" pitchFamily="34" charset="-120"/>
              </a:rPr>
              <a:t>Yang kami periksa</a:t>
            </a:r>
            <a:endParaRPr lang="en-US" sz="1300" dirty="0"/>
          </a:p>
        </p:txBody>
      </p:sp>
      <p:sp>
        <p:nvSpPr>
          <p:cNvPr id="14" name="Text 11"/>
          <p:cNvSpPr/>
          <p:nvPr/>
        </p:nvSpPr>
        <p:spPr>
          <a:xfrm>
            <a:off x="6812280" y="3438144"/>
            <a:ext cx="4812487" cy="1755648"/>
          </a:xfrm>
          <a:prstGeom prst="rect">
            <a:avLst/>
          </a:prstGeom>
          <a:noFill/>
          <a:ln/>
        </p:spPr>
        <p:txBody>
          <a:bodyPr wrap="square" lIns="0" tIns="0" rIns="0" bIns="0" rtlCol="0" anchor="t"/>
          <a:lstStyle/>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Hierarchical Ward menghasilkan pembagian dua kelompok serupa; tabel silang menempatkan mayoritas pada sel bersesuaian</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K=2 menang di 4 dari 5 sample acak — pemisahan stabil, bukan artefak satu sample</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Silhouette 0,161 rendah dan kami sebut apa adanya: wajar untuk data sosial-ekonomi kontinu tanpa gap tajam</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DBSCAN pada densMAP menandai 426 noise point (0,43% dari sample) — lintas-cek di Phase 4</a:t>
            </a:r>
            <a:endParaRPr lang="en-US" sz="1200" dirty="0"/>
          </a:p>
        </p:txBody>
      </p:sp>
      <p:sp>
        <p:nvSpPr>
          <p:cNvPr id="15" name="Shape 12"/>
          <p:cNvSpPr/>
          <p:nvPr/>
        </p:nvSpPr>
        <p:spPr>
          <a:xfrm>
            <a:off x="6812280" y="5303520"/>
            <a:ext cx="4812487" cy="804672"/>
          </a:xfrm>
          <a:prstGeom prst="roundRect">
            <a:avLst>
              <a:gd name="adj" fmla="val 6818"/>
            </a:avLst>
          </a:prstGeom>
          <a:solidFill>
            <a:srgbClr val="FBF3E8"/>
          </a:solidFill>
          <a:ln/>
        </p:spPr>
      </p:sp>
      <p:sp>
        <p:nvSpPr>
          <p:cNvPr id="16" name="Text 13"/>
          <p:cNvSpPr/>
          <p:nvPr/>
        </p:nvSpPr>
        <p:spPr>
          <a:xfrm>
            <a:off x="7031736" y="5303520"/>
            <a:ext cx="4373575" cy="804672"/>
          </a:xfrm>
          <a:prstGeom prst="rect">
            <a:avLst/>
          </a:prstGeom>
          <a:noFill/>
          <a:ln/>
        </p:spPr>
        <p:txBody>
          <a:bodyPr wrap="square" lIns="0" tIns="0" rIns="0" bIns="0" rtlCol="0" anchor="ctr"/>
          <a:lstStyle/>
          <a:p>
            <a:pPr indent="0" marL="0">
              <a:lnSpc>
                <a:spcPts val="1600"/>
              </a:lnSpc>
              <a:buNone/>
            </a:pPr>
            <a:r>
              <a:rPr lang="en-US" sz="1250" b="1" dirty="0">
                <a:solidFill>
                  <a:srgbClr val="16212E"/>
                </a:solidFill>
                <a:latin typeface="Calibri" pitchFamily="34" charset="0"/>
                <a:ea typeface="Calibri" pitchFamily="34" charset="-122"/>
                <a:cs typeface="Calibri" pitchFamily="34" charset="-120"/>
              </a:rPr>
              <a:t>Aksi: </a:t>
            </a:r>
            <a:pPr indent="0" marL="0">
              <a:lnSpc>
                <a:spcPts val="1600"/>
              </a:lnSpc>
              <a:buNone/>
            </a:pPr>
            <a:r>
              <a:rPr lang="en-US" sz="1250" dirty="0">
                <a:solidFill>
                  <a:srgbClr val="16212E"/>
                </a:solidFill>
                <a:latin typeface="Calibri" pitchFamily="34" charset="0"/>
                <a:ea typeface="Calibri" pitchFamily="34" charset="-122"/>
                <a:cs typeface="Calibri" pitchFamily="34" charset="-120"/>
              </a:rPr>
              <a:t>kalibrasi harga dan limit pada kombinasi FICO + utilisasi + ukuran pinjaman, bukan FICO tunggal.</a:t>
            </a:r>
            <a:endParaRPr lang="en-US" sz="1250" dirty="0"/>
          </a:p>
        </p:txBody>
      </p:sp>
      <p:sp>
        <p:nvSpPr>
          <p:cNvPr id="17" name="Text 14"/>
          <p:cNvSpPr/>
          <p:nvPr/>
        </p:nvSpPr>
        <p:spPr>
          <a:xfrm>
            <a:off x="566928" y="6382512"/>
            <a:ext cx="11057839" cy="274320"/>
          </a:xfrm>
          <a:prstGeom prst="rect">
            <a:avLst/>
          </a:prstGeom>
          <a:noFill/>
          <a:ln/>
        </p:spPr>
        <p:txBody>
          <a:bodyPr wrap="square" lIns="0" tIns="0" rIns="0" bIns="0" rtlCol="0" anchor="ctr"/>
          <a:lstStyle/>
          <a:p>
            <a:pPr indent="0" marL="0">
              <a:buNone/>
            </a:pPr>
            <a:r>
              <a:rPr lang="en-US" sz="950" dirty="0">
                <a:solidFill>
                  <a:srgbClr val="6B7A8D"/>
                </a:solidFill>
                <a:latin typeface="Calibri" pitchFamily="34" charset="0"/>
                <a:ea typeface="Calibri" pitchFamily="34" charset="-122"/>
                <a:cs typeface="Calibri" pitchFamily="34" charset="-120"/>
              </a:rPr>
              <a:t>Peta: embedding densMAP, 40.000 titik ditampilkan dari sample 100.000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329184" cy="329184"/>
          </a:xfrm>
          <a:prstGeom prst="ellipse">
            <a:avLst/>
          </a:prstGeom>
          <a:solidFill>
            <a:srgbClr val="D98324"/>
          </a:solidFill>
          <a:ln/>
        </p:spPr>
      </p:sp>
      <p:sp>
        <p:nvSpPr>
          <p:cNvPr id="3" name="Text 1"/>
          <p:cNvSpPr/>
          <p:nvPr/>
        </p:nvSpPr>
        <p:spPr>
          <a:xfrm>
            <a:off x="566928" y="402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p:nvPr/>
        </p:nvSpPr>
        <p:spPr>
          <a:xfrm>
            <a:off x="1005840" y="402336"/>
            <a:ext cx="6858000" cy="329184"/>
          </a:xfrm>
          <a:prstGeom prst="rect">
            <a:avLst/>
          </a:prstGeom>
          <a:noFill/>
          <a:ln/>
        </p:spPr>
        <p:txBody>
          <a:bodyPr wrap="square" lIns="0" tIns="0" rIns="0" bIns="0" rtlCol="0" anchor="ctr"/>
          <a:lstStyle/>
          <a:p>
            <a:pPr indent="0" marL="0">
              <a:buNone/>
            </a:pPr>
            <a:r>
              <a:rPr lang="en-US" sz="1250" b="1" spc="120" kern="0" dirty="0">
                <a:solidFill>
                  <a:srgbClr val="6B7A8D"/>
                </a:solidFill>
                <a:latin typeface="Calibri" pitchFamily="34" charset="0"/>
                <a:ea typeface="Calibri" pitchFamily="34" charset="-122"/>
                <a:cs typeface="Calibri" pitchFamily="34" charset="-120"/>
              </a:rPr>
              <a:t>TEMUAN 2  ·  ASSOCIATION RULE MINING</a:t>
            </a:r>
            <a:endParaRPr lang="en-US" sz="1250" dirty="0"/>
          </a:p>
        </p:txBody>
      </p:sp>
      <p:sp>
        <p:nvSpPr>
          <p:cNvPr id="5" name="Text 3"/>
          <p:cNvSpPr/>
          <p:nvPr/>
        </p:nvSpPr>
        <p:spPr>
          <a:xfrm>
            <a:off x="566928" y="914400"/>
            <a:ext cx="11057839" cy="658368"/>
          </a:xfrm>
          <a:prstGeom prst="rect">
            <a:avLst/>
          </a:prstGeom>
          <a:noFill/>
          <a:ln/>
        </p:spPr>
        <p:txBody>
          <a:bodyPr wrap="square" lIns="0" tIns="0" rIns="0" bIns="0" rtlCol="0" anchor="t"/>
          <a:lstStyle/>
          <a:p>
            <a:pPr indent="0" marL="0">
              <a:lnSpc>
                <a:spcPts val="3200"/>
              </a:lnSpc>
              <a:buNone/>
            </a:pPr>
            <a:r>
              <a:rPr lang="en-US" sz="2700" b="1" dirty="0">
                <a:solidFill>
                  <a:srgbClr val="16212E"/>
                </a:solidFill>
                <a:latin typeface="Cambria" pitchFamily="34" charset="0"/>
                <a:ea typeface="Cambria" pitchFamily="34" charset="-122"/>
                <a:cs typeface="Cambria" pitchFamily="34" charset="-120"/>
              </a:rPr>
              <a:t>Grade internal hampir sepenuhnya cerminan suku bunga</a:t>
            </a:r>
            <a:endParaRPr lang="en-US" sz="2700" dirty="0"/>
          </a:p>
        </p:txBody>
      </p:sp>
      <p:pic>
        <p:nvPicPr>
          <p:cNvPr id="6" name="Image 0" descr="/tmp/deck/img/arm_lift.png">    </p:cNvPr>
          <p:cNvPicPr>
            <a:picLocks noChangeAspect="1"/>
          </p:cNvPicPr>
          <p:nvPr/>
        </p:nvPicPr>
        <p:blipFill>
          <a:blip r:embed="rId1"/>
          <a:stretch>
            <a:fillRect/>
          </a:stretch>
        </p:blipFill>
        <p:spPr>
          <a:xfrm>
            <a:off x="566928" y="1847088"/>
            <a:ext cx="6967728" cy="3072384"/>
          </a:xfrm>
          <a:prstGeom prst="rect">
            <a:avLst/>
          </a:prstGeom>
        </p:spPr>
      </p:pic>
      <p:sp>
        <p:nvSpPr>
          <p:cNvPr id="7" name="Shape 4"/>
          <p:cNvSpPr/>
          <p:nvPr/>
        </p:nvSpPr>
        <p:spPr>
          <a:xfrm>
            <a:off x="566928" y="5138928"/>
            <a:ext cx="6967728" cy="969264"/>
          </a:xfrm>
          <a:prstGeom prst="roundRect">
            <a:avLst>
              <a:gd name="adj" fmla="val 5660"/>
            </a:avLst>
          </a:prstGeom>
          <a:solidFill>
            <a:srgbClr val="F4F6F8"/>
          </a:solidFill>
          <a:ln/>
        </p:spPr>
      </p:sp>
      <p:sp>
        <p:nvSpPr>
          <p:cNvPr id="8" name="Text 5"/>
          <p:cNvSpPr/>
          <p:nvPr/>
        </p:nvSpPr>
        <p:spPr>
          <a:xfrm>
            <a:off x="822960" y="5138928"/>
            <a:ext cx="6455664" cy="969264"/>
          </a:xfrm>
          <a:prstGeom prst="rect">
            <a:avLst/>
          </a:prstGeom>
          <a:noFill/>
          <a:ln/>
        </p:spPr>
        <p:txBody>
          <a:bodyPr wrap="square" lIns="0" tIns="0" rIns="0" bIns="0" rtlCol="0" anchor="ctr"/>
          <a:lstStyle/>
          <a:p>
            <a:pPr indent="0" marL="0">
              <a:lnSpc>
                <a:spcPts val="1500"/>
              </a:lnSpc>
              <a:buNone/>
            </a:pPr>
            <a:r>
              <a:rPr lang="en-US" sz="1150" b="1" dirty="0">
                <a:solidFill>
                  <a:srgbClr val="16212E"/>
                </a:solidFill>
                <a:latin typeface="Calibri" pitchFamily="34" charset="0"/>
                <a:ea typeface="Calibri" pitchFamily="34" charset="-122"/>
                <a:cs typeface="Calibri" pitchFamily="34" charset="-120"/>
              </a:rPr>
              <a:t>Kenapa ini disebut sirkular. </a:t>
            </a:r>
            <a:pPr indent="0" marL="0">
              <a:lnSpc>
                <a:spcPts val="1500"/>
              </a:lnSpc>
              <a:buNone/>
            </a:pPr>
            <a:r>
              <a:rPr lang="en-US" sz="1150" dirty="0">
                <a:solidFill>
                  <a:srgbClr val="16212E"/>
                </a:solidFill>
                <a:latin typeface="Calibri" pitchFamily="34" charset="0"/>
                <a:ea typeface="Calibri" pitchFamily="34" charset="-122"/>
                <a:cs typeface="Calibri" pitchFamily="34" charset="-120"/>
              </a:rPr>
              <a:t>Grade dan suku bunga ditetapkan bersamaan oleh Lending Club, jadi rule yang menghubungkan keduanya tidak menemukan apa pun tentang peminjam — ia hanya memantulkan kembali kebijakan internal.</a:t>
            </a:r>
            <a:endParaRPr lang="en-US" sz="1150" dirty="0"/>
          </a:p>
        </p:txBody>
      </p:sp>
      <p:sp>
        <p:nvSpPr>
          <p:cNvPr id="9" name="Text 6"/>
          <p:cNvSpPr/>
          <p:nvPr/>
        </p:nvSpPr>
        <p:spPr>
          <a:xfrm>
            <a:off x="7772400" y="1847088"/>
            <a:ext cx="3852367" cy="274320"/>
          </a:xfrm>
          <a:prstGeom prst="rect">
            <a:avLst/>
          </a:prstGeom>
          <a:noFill/>
          <a:ln/>
        </p:spPr>
        <p:txBody>
          <a:bodyPr wrap="square" lIns="0" tIns="0" rIns="0" bIns="0" rtlCol="0" anchor="ctr"/>
          <a:lstStyle/>
          <a:p>
            <a:pPr indent="0" marL="0">
              <a:buNone/>
            </a:pPr>
            <a:r>
              <a:rPr lang="en-US" sz="1300" b="1" dirty="0">
                <a:solidFill>
                  <a:srgbClr val="16212E"/>
                </a:solidFill>
                <a:latin typeface="Calibri" pitchFamily="34" charset="0"/>
                <a:ea typeface="Calibri" pitchFamily="34" charset="-122"/>
                <a:cs typeface="Calibri" pitchFamily="34" charset="-120"/>
              </a:rPr>
              <a:t>Yang ini berarti</a:t>
            </a:r>
            <a:endParaRPr lang="en-US" sz="1300" dirty="0"/>
          </a:p>
        </p:txBody>
      </p:sp>
      <p:sp>
        <p:nvSpPr>
          <p:cNvPr id="10" name="Text 7"/>
          <p:cNvSpPr/>
          <p:nvPr/>
        </p:nvSpPr>
        <p:spPr>
          <a:xfrm>
            <a:off x="7772400" y="2176272"/>
            <a:ext cx="3852367" cy="2651760"/>
          </a:xfrm>
          <a:prstGeom prst="rect">
            <a:avLst/>
          </a:prstGeom>
          <a:noFill/>
          <a:ln/>
        </p:spPr>
        <p:txBody>
          <a:bodyPr wrap="square" lIns="0" tIns="0" rIns="0" bIns="0" rtlCol="0" anchor="t"/>
          <a:lstStyle/>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Seluruh rule kuat menuju grade memuat kategori suku bunga</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Satu-satunya pengecualian: FICO 740–799 → Grade A (confidence 0,57; lift 2,99) — dan FICO memang input model grading</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Pola monoton di semua tingkat: B–medium, C–tinggi, D/E–sangat tinggi</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Contoh rule small_business pada dokumen soal tidak didukung data (0 rule) — interpretasi dibangun dari rule aktual</a:t>
            </a:r>
            <a:endParaRPr lang="en-US" sz="1200" dirty="0"/>
          </a:p>
        </p:txBody>
      </p:sp>
      <p:sp>
        <p:nvSpPr>
          <p:cNvPr id="11" name="Shape 8"/>
          <p:cNvSpPr/>
          <p:nvPr/>
        </p:nvSpPr>
        <p:spPr>
          <a:xfrm>
            <a:off x="7772400" y="4882896"/>
            <a:ext cx="3852367" cy="1225296"/>
          </a:xfrm>
          <a:prstGeom prst="roundRect">
            <a:avLst>
              <a:gd name="adj" fmla="val 4478"/>
            </a:avLst>
          </a:prstGeom>
          <a:solidFill>
            <a:srgbClr val="FBF3E8"/>
          </a:solidFill>
          <a:ln/>
        </p:spPr>
      </p:sp>
      <p:sp>
        <p:nvSpPr>
          <p:cNvPr id="12" name="Text 9"/>
          <p:cNvSpPr/>
          <p:nvPr/>
        </p:nvSpPr>
        <p:spPr>
          <a:xfrm>
            <a:off x="7991856" y="4882896"/>
            <a:ext cx="3413455" cy="1225296"/>
          </a:xfrm>
          <a:prstGeom prst="rect">
            <a:avLst/>
          </a:prstGeom>
          <a:noFill/>
          <a:ln/>
        </p:spPr>
        <p:txBody>
          <a:bodyPr wrap="square" lIns="0" tIns="0" rIns="0" bIns="0" rtlCol="0" anchor="ctr"/>
          <a:lstStyle/>
          <a:p>
            <a:pPr indent="0" marL="0">
              <a:lnSpc>
                <a:spcPts val="1550"/>
              </a:lnSpc>
              <a:buNone/>
            </a:pPr>
            <a:r>
              <a:rPr lang="en-US" sz="1200" b="1" dirty="0">
                <a:solidFill>
                  <a:srgbClr val="16212E"/>
                </a:solidFill>
                <a:latin typeface="Calibri" pitchFamily="34" charset="0"/>
                <a:ea typeface="Calibri" pitchFamily="34" charset="-122"/>
                <a:cs typeface="Calibri" pitchFamily="34" charset="-120"/>
              </a:rPr>
              <a:t>Aksi: </a:t>
            </a:r>
            <a:pPr indent="0" marL="0">
              <a:lnSpc>
                <a:spcPts val="1550"/>
              </a:lnSpc>
              <a:buNone/>
            </a:pPr>
            <a:r>
              <a:rPr lang="en-US" sz="1200" dirty="0">
                <a:solidFill>
                  <a:srgbClr val="16212E"/>
                </a:solidFill>
                <a:latin typeface="Calibri" pitchFamily="34" charset="0"/>
                <a:ea typeface="Calibri" pitchFamily="34" charset="-122"/>
                <a:cs typeface="Calibri" pitchFamily="34" charset="-120"/>
              </a:rPr>
              <a:t>jangan perlakukan grade sebagai fitur independen di samping suku bunga — memakai keduanya berarti memasukkan informasi yang sama dua kali. Modelkan dari atribut fundamental.</a:t>
            </a:r>
            <a:endParaRPr lang="en-US" sz="1200" dirty="0"/>
          </a:p>
        </p:txBody>
      </p:sp>
      <p:sp>
        <p:nvSpPr>
          <p:cNvPr id="13" name="Text 10"/>
          <p:cNvSpPr/>
          <p:nvPr/>
        </p:nvSpPr>
        <p:spPr>
          <a:xfrm>
            <a:off x="566928" y="6382512"/>
            <a:ext cx="11057839" cy="274320"/>
          </a:xfrm>
          <a:prstGeom prst="rect">
            <a:avLst/>
          </a:prstGeom>
          <a:noFill/>
          <a:ln/>
        </p:spPr>
        <p:txBody>
          <a:bodyPr wrap="square" lIns="0" tIns="0" rIns="0" bIns="0" rtlCol="0" anchor="ctr"/>
          <a:lstStyle/>
          <a:p>
            <a:pPr indent="0" marL="0">
              <a:buNone/>
            </a:pPr>
            <a:r>
              <a:rPr lang="en-US" sz="950" dirty="0">
                <a:solidFill>
                  <a:srgbClr val="6B7A8D"/>
                </a:solidFill>
                <a:latin typeface="Calibri" pitchFamily="34" charset="0"/>
                <a:ea typeface="Calibri" pitchFamily="34" charset="-122"/>
                <a:cs typeface="Calibri" pitchFamily="34" charset="-120"/>
              </a:rPr>
              <a:t>Apriori · sample acak seeded 250.000 baris · 1.947 itemset → 14.764 rule → 1.023 retained (lift &gt; 1,15; confidence &gt; 0,5)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329184" cy="329184"/>
          </a:xfrm>
          <a:prstGeom prst="ellipse">
            <a:avLst/>
          </a:prstGeom>
          <a:solidFill>
            <a:srgbClr val="2E7D8F"/>
          </a:solidFill>
          <a:ln/>
        </p:spPr>
      </p:sp>
      <p:sp>
        <p:nvSpPr>
          <p:cNvPr id="3" name="Text 1"/>
          <p:cNvSpPr/>
          <p:nvPr/>
        </p:nvSpPr>
        <p:spPr>
          <a:xfrm>
            <a:off x="566928" y="402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p:nvPr/>
        </p:nvSpPr>
        <p:spPr>
          <a:xfrm>
            <a:off x="1005840" y="402336"/>
            <a:ext cx="6858000" cy="329184"/>
          </a:xfrm>
          <a:prstGeom prst="rect">
            <a:avLst/>
          </a:prstGeom>
          <a:noFill/>
          <a:ln/>
        </p:spPr>
        <p:txBody>
          <a:bodyPr wrap="square" lIns="0" tIns="0" rIns="0" bIns="0" rtlCol="0" anchor="ctr"/>
          <a:lstStyle/>
          <a:p>
            <a:pPr indent="0" marL="0">
              <a:buNone/>
            </a:pPr>
            <a:r>
              <a:rPr lang="en-US" sz="1250" b="1" spc="120" kern="0" dirty="0">
                <a:solidFill>
                  <a:srgbClr val="6B7A8D"/>
                </a:solidFill>
                <a:latin typeface="Calibri" pitchFamily="34" charset="0"/>
                <a:ea typeface="Calibri" pitchFamily="34" charset="-122"/>
                <a:cs typeface="Calibri" pitchFamily="34" charset="-120"/>
              </a:rPr>
              <a:t>TEMUAN 3  ·  ANOMALY DETECTION</a:t>
            </a:r>
            <a:endParaRPr lang="en-US" sz="1250" dirty="0"/>
          </a:p>
        </p:txBody>
      </p:sp>
      <p:sp>
        <p:nvSpPr>
          <p:cNvPr id="5" name="Text 3"/>
          <p:cNvSpPr/>
          <p:nvPr/>
        </p:nvSpPr>
        <p:spPr>
          <a:xfrm>
            <a:off x="566928" y="914400"/>
            <a:ext cx="11057839" cy="658368"/>
          </a:xfrm>
          <a:prstGeom prst="rect">
            <a:avLst/>
          </a:prstGeom>
          <a:noFill/>
          <a:ln/>
        </p:spPr>
        <p:txBody>
          <a:bodyPr wrap="square" lIns="0" tIns="0" rIns="0" bIns="0" rtlCol="0" anchor="t"/>
          <a:lstStyle/>
          <a:p>
            <a:pPr indent="0" marL="0">
              <a:lnSpc>
                <a:spcPts val="3200"/>
              </a:lnSpc>
              <a:buNone/>
            </a:pPr>
            <a:r>
              <a:rPr lang="en-US" sz="2500" b="1" dirty="0">
                <a:solidFill>
                  <a:srgbClr val="16212E"/>
                </a:solidFill>
                <a:latin typeface="Cambria" pitchFamily="34" charset="0"/>
                <a:ea typeface="Cambria" pitchFamily="34" charset="-122"/>
                <a:cs typeface="Cambria" pitchFamily="34" charset="-120"/>
              </a:rPr>
              <a:t>Anomali statistik bukan penanda risiko — kecuali satu sub-kelompok</a:t>
            </a:r>
            <a:endParaRPr lang="en-US" sz="2500" dirty="0"/>
          </a:p>
        </p:txBody>
      </p:sp>
      <p:pic>
        <p:nvPicPr>
          <p:cNvPr id="6" name="Image 0" descr="/tmp/deck/img/badrate.png">    </p:cNvPr>
          <p:cNvPicPr>
            <a:picLocks noChangeAspect="1"/>
          </p:cNvPicPr>
          <p:nvPr/>
        </p:nvPicPr>
        <p:blipFill>
          <a:blip r:embed="rId1"/>
          <a:stretch>
            <a:fillRect/>
          </a:stretch>
        </p:blipFill>
        <p:spPr>
          <a:xfrm>
            <a:off x="566928" y="1828800"/>
            <a:ext cx="6035040" cy="3493008"/>
          </a:xfrm>
          <a:prstGeom prst="rect">
            <a:avLst/>
          </a:prstGeom>
        </p:spPr>
      </p:pic>
      <p:sp>
        <p:nvSpPr>
          <p:cNvPr id="7" name="Shape 4"/>
          <p:cNvSpPr/>
          <p:nvPr/>
        </p:nvSpPr>
        <p:spPr>
          <a:xfrm>
            <a:off x="566928" y="5522976"/>
            <a:ext cx="6035040" cy="585216"/>
          </a:xfrm>
          <a:prstGeom prst="roundRect">
            <a:avLst>
              <a:gd name="adj" fmla="val 9375"/>
            </a:avLst>
          </a:prstGeom>
          <a:solidFill>
            <a:srgbClr val="F4F6F8"/>
          </a:solidFill>
          <a:ln/>
        </p:spPr>
      </p:sp>
      <p:sp>
        <p:nvSpPr>
          <p:cNvPr id="8" name="Text 5"/>
          <p:cNvSpPr/>
          <p:nvPr/>
        </p:nvSpPr>
        <p:spPr>
          <a:xfrm>
            <a:off x="804672" y="5522976"/>
            <a:ext cx="5559552" cy="585216"/>
          </a:xfrm>
          <a:prstGeom prst="rect">
            <a:avLst/>
          </a:prstGeom>
          <a:noFill/>
          <a:ln/>
        </p:spPr>
        <p:txBody>
          <a:bodyPr wrap="square" lIns="0" tIns="0" rIns="0" bIns="0" rtlCol="0" anchor="ctr"/>
          <a:lstStyle/>
          <a:p>
            <a:pPr indent="0" marL="0">
              <a:lnSpc>
                <a:spcPts val="1500"/>
              </a:lnSpc>
              <a:buNone/>
            </a:pPr>
            <a:r>
              <a:rPr lang="en-US" sz="1150" b="1" dirty="0">
                <a:solidFill>
                  <a:srgbClr val="16212E"/>
                </a:solidFill>
                <a:latin typeface="Calibri" pitchFamily="34" charset="0"/>
                <a:ea typeface="Calibri" pitchFamily="34" charset="-122"/>
                <a:cs typeface="Calibri" pitchFamily="34" charset="-120"/>
              </a:rPr>
              <a:t>Arah yang berlawanan dugaan: </a:t>
            </a:r>
            <a:pPr indent="0" marL="0">
              <a:lnSpc>
                <a:spcPts val="1500"/>
              </a:lnSpc>
              <a:buNone/>
            </a:pPr>
            <a:r>
              <a:rPr lang="en-US" sz="1150" dirty="0">
                <a:solidFill>
                  <a:srgbClr val="16212E"/>
                </a:solidFill>
                <a:latin typeface="Calibri" pitchFamily="34" charset="0"/>
                <a:ea typeface="Calibri" pitchFamily="34" charset="-122"/>
                <a:cs typeface="Calibri" pitchFamily="34" charset="-120"/>
              </a:rPr>
              <a:t>anomali justru lebih jarang gagal bayar daripada populasi.</a:t>
            </a:r>
            <a:endParaRPr lang="en-US" sz="1150" dirty="0"/>
          </a:p>
        </p:txBody>
      </p:sp>
      <p:sp>
        <p:nvSpPr>
          <p:cNvPr id="9" name="Text 6"/>
          <p:cNvSpPr/>
          <p:nvPr/>
        </p:nvSpPr>
        <p:spPr>
          <a:xfrm>
            <a:off x="6766560" y="1847088"/>
            <a:ext cx="4858207" cy="274320"/>
          </a:xfrm>
          <a:prstGeom prst="rect">
            <a:avLst/>
          </a:prstGeom>
          <a:noFill/>
          <a:ln/>
        </p:spPr>
        <p:txBody>
          <a:bodyPr wrap="square" lIns="0" tIns="0" rIns="0" bIns="0" rtlCol="0" anchor="ctr"/>
          <a:lstStyle/>
          <a:p>
            <a:pPr indent="0" marL="0">
              <a:buNone/>
            </a:pPr>
            <a:r>
              <a:rPr lang="en-US" sz="1300" b="1" dirty="0">
                <a:solidFill>
                  <a:srgbClr val="16212E"/>
                </a:solidFill>
                <a:latin typeface="Calibri" pitchFamily="34" charset="0"/>
                <a:ea typeface="Calibri" pitchFamily="34" charset="-122"/>
                <a:cs typeface="Calibri" pitchFamily="34" charset="-120"/>
              </a:rPr>
              <a:t>Kenapa ini bukan penalaran berputar</a:t>
            </a:r>
            <a:endParaRPr lang="en-US" sz="1300" dirty="0"/>
          </a:p>
        </p:txBody>
      </p:sp>
      <p:sp>
        <p:nvSpPr>
          <p:cNvPr id="10" name="Text 7"/>
          <p:cNvSpPr/>
          <p:nvPr/>
        </p:nvSpPr>
        <p:spPr>
          <a:xfrm>
            <a:off x="6766560" y="2176272"/>
            <a:ext cx="4858207" cy="2651760"/>
          </a:xfrm>
          <a:prstGeom prst="rect">
            <a:avLst/>
          </a:prstGeom>
          <a:noFill/>
          <a:ln/>
        </p:spPr>
        <p:txBody>
          <a:bodyPr wrap="square" lIns="0" tIns="0" rIns="0" bIns="0" rtlCol="0" anchor="t"/>
          <a:lstStyle/>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Sub-kelompok high-stress dibentuk dari atribut pra-pinjaman saja — DTI, utilisasi revolving, utilisasi total, jumlah inquiry — tanpa menyentuh status pinjaman</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Angka 19,2% dihitung setelahnya sebagai validasi, bukan sebagai definisi</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Dari 426 noise DBSCAN Phase 2, 68% ikut ditandai metode statistik atau Isolation Forest</a:t>
            </a:r>
            <a:endParaRPr lang="en-US" sz="1200" dirty="0"/>
          </a:p>
          <a:p>
            <a:pPr marL="165100" indent="-165100">
              <a:lnSpc>
                <a:spcPts val="1500"/>
              </a:lnSpc>
              <a:spcAft>
                <a:spcPts val="600"/>
              </a:spcAft>
              <a:buSzPct val="100000"/>
              <a:buChar char="•"/>
            </a:pPr>
            <a:r>
              <a:rPr lang="en-US" sz="1200" dirty="0">
                <a:solidFill>
                  <a:srgbClr val="24344A"/>
                </a:solidFill>
                <a:latin typeface="Calibri" pitchFamily="34" charset="0"/>
                <a:ea typeface="Calibri" pitchFamily="34" charset="-122"/>
                <a:cs typeface="Calibri" pitchFamily="34" charset="-120"/>
              </a:rPr>
              <a:t>2.654 baris terklasifikasi data error murni (penghasilan USD 110 juta, DTI sentinel 999)</a:t>
            </a:r>
            <a:endParaRPr lang="en-US" sz="1200" dirty="0"/>
          </a:p>
        </p:txBody>
      </p:sp>
      <p:sp>
        <p:nvSpPr>
          <p:cNvPr id="11" name="Shape 8"/>
          <p:cNvSpPr/>
          <p:nvPr/>
        </p:nvSpPr>
        <p:spPr>
          <a:xfrm>
            <a:off x="6766560" y="4956048"/>
            <a:ext cx="4858207" cy="1152144"/>
          </a:xfrm>
          <a:prstGeom prst="roundRect">
            <a:avLst>
              <a:gd name="adj" fmla="val 4762"/>
            </a:avLst>
          </a:prstGeom>
          <a:solidFill>
            <a:srgbClr val="FBF3E8"/>
          </a:solidFill>
          <a:ln/>
        </p:spPr>
      </p:sp>
      <p:sp>
        <p:nvSpPr>
          <p:cNvPr id="12" name="Text 9"/>
          <p:cNvSpPr/>
          <p:nvPr/>
        </p:nvSpPr>
        <p:spPr>
          <a:xfrm>
            <a:off x="6986016" y="4956048"/>
            <a:ext cx="4419295" cy="1152144"/>
          </a:xfrm>
          <a:prstGeom prst="rect">
            <a:avLst/>
          </a:prstGeom>
          <a:noFill/>
          <a:ln/>
        </p:spPr>
        <p:txBody>
          <a:bodyPr wrap="square" lIns="0" tIns="0" rIns="0" bIns="0" rtlCol="0" anchor="ctr"/>
          <a:lstStyle/>
          <a:p>
            <a:pPr indent="0" marL="0">
              <a:lnSpc>
                <a:spcPts val="1550"/>
              </a:lnSpc>
              <a:buNone/>
            </a:pPr>
            <a:r>
              <a:rPr lang="en-US" sz="1200" b="1" dirty="0">
                <a:solidFill>
                  <a:srgbClr val="16212E"/>
                </a:solidFill>
                <a:latin typeface="Calibri" pitchFamily="34" charset="0"/>
                <a:ea typeface="Calibri" pitchFamily="34" charset="-122"/>
                <a:cs typeface="Calibri" pitchFamily="34" charset="-120"/>
              </a:rPr>
              <a:t>Aksi: </a:t>
            </a:r>
            <a:pPr indent="0" marL="0">
              <a:lnSpc>
                <a:spcPts val="1550"/>
              </a:lnSpc>
              <a:buNone/>
            </a:pPr>
            <a:r>
              <a:rPr lang="en-US" sz="1200" dirty="0">
                <a:solidFill>
                  <a:srgbClr val="16212E"/>
                </a:solidFill>
                <a:latin typeface="Calibri" pitchFamily="34" charset="0"/>
                <a:ea typeface="Calibri" pitchFamily="34" charset="-122"/>
                <a:cs typeface="Calibri" pitchFamily="34" charset="-120"/>
              </a:rPr>
              <a:t>flag untuk review manual pakai kombinasi atribut tekanan kredit, bukan status outlier — kelompok outlier justru berisi nasabah bernilai tinggi.</a:t>
            </a:r>
            <a:endParaRPr lang="en-US" sz="1200" dirty="0"/>
          </a:p>
        </p:txBody>
      </p:sp>
      <p:sp>
        <p:nvSpPr>
          <p:cNvPr id="13" name="Text 10"/>
          <p:cNvSpPr/>
          <p:nvPr/>
        </p:nvSpPr>
        <p:spPr>
          <a:xfrm>
            <a:off x="566928" y="6382512"/>
            <a:ext cx="11057839" cy="274320"/>
          </a:xfrm>
          <a:prstGeom prst="rect">
            <a:avLst/>
          </a:prstGeom>
          <a:noFill/>
          <a:ln/>
        </p:spPr>
        <p:txBody>
          <a:bodyPr wrap="square" lIns="0" tIns="0" rIns="0" bIns="0" rtlCol="0" anchor="ctr"/>
          <a:lstStyle/>
          <a:p>
            <a:pPr indent="0" marL="0">
              <a:buNone/>
            </a:pPr>
            <a:r>
              <a:rPr lang="en-US" sz="950" dirty="0">
                <a:solidFill>
                  <a:srgbClr val="6B7A8D"/>
                </a:solidFill>
                <a:latin typeface="Calibri" pitchFamily="34" charset="0"/>
                <a:ea typeface="Calibri" pitchFamily="34" charset="-122"/>
                <a:cs typeface="Calibri" pitchFamily="34" charset="-120"/>
              </a:rPr>
              <a:t>Bad-rate definisi luas: Charged Off, Default, dan Late · 4 metode, anomali dikonfirmasi bila ditandai ≥ 2 metode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Sintesis</a:t>
            </a:r>
            <a:endParaRPr lang="en-US" sz="1300" dirty="0"/>
          </a:p>
        </p:txBody>
      </p:sp>
      <p:sp>
        <p:nvSpPr>
          <p:cNvPr id="3" name="Text 1"/>
          <p:cNvSpPr/>
          <p:nvPr/>
        </p:nvSpPr>
        <p:spPr>
          <a:xfrm>
            <a:off x="566928" y="950976"/>
            <a:ext cx="11057839" cy="658368"/>
          </a:xfrm>
          <a:prstGeom prst="rect">
            <a:avLst/>
          </a:prstGeom>
          <a:noFill/>
          <a:ln/>
        </p:spPr>
        <p:txBody>
          <a:bodyPr wrap="square" lIns="0" tIns="0" rIns="0" bIns="0" rtlCol="0" anchor="t"/>
          <a:lstStyle/>
          <a:p>
            <a:pPr indent="0" marL="0">
              <a:lnSpc>
                <a:spcPts val="3200"/>
              </a:lnSpc>
              <a:buNone/>
            </a:pPr>
            <a:r>
              <a:rPr lang="en-US" sz="2800" b="1" dirty="0">
                <a:solidFill>
                  <a:srgbClr val="16212E"/>
                </a:solidFill>
                <a:latin typeface="Cambria" pitchFamily="34" charset="0"/>
                <a:ea typeface="Cambria" pitchFamily="34" charset="-122"/>
                <a:cs typeface="Cambria" pitchFamily="34" charset="-120"/>
              </a:rPr>
              <a:t>Tiga fase menjawab satu pertanyaan yang sama</a:t>
            </a:r>
            <a:endParaRPr lang="en-US" sz="2800" dirty="0"/>
          </a:p>
        </p:txBody>
      </p:sp>
      <p:sp>
        <p:nvSpPr>
          <p:cNvPr id="4" name="Text 2"/>
          <p:cNvSpPr/>
          <p:nvPr/>
        </p:nvSpPr>
        <p:spPr>
          <a:xfrm>
            <a:off x="566928" y="1609344"/>
            <a:ext cx="11057839" cy="310896"/>
          </a:xfrm>
          <a:prstGeom prst="rect">
            <a:avLst/>
          </a:prstGeom>
          <a:noFill/>
          <a:ln/>
        </p:spPr>
        <p:txBody>
          <a:bodyPr wrap="square" lIns="0" tIns="0" rIns="0" bIns="0" rtlCol="0" anchor="ctr"/>
          <a:lstStyle/>
          <a:p>
            <a:pPr indent="0" marL="0">
              <a:buNone/>
            </a:pPr>
            <a:r>
              <a:rPr lang="en-US" sz="1400" dirty="0">
                <a:solidFill>
                  <a:srgbClr val="24344A"/>
                </a:solidFill>
                <a:latin typeface="Calibri" pitchFamily="34" charset="0"/>
                <a:ea typeface="Calibri" pitchFamily="34" charset="-122"/>
                <a:cs typeface="Calibri" pitchFamily="34" charset="-120"/>
              </a:rPr>
              <a:t>Temuan-temuan ini tidak berdiri sendiri — masing-masing menutup celah yang ditinggalkan yang lain.</a:t>
            </a:r>
            <a:endParaRPr lang="en-US" sz="1400" dirty="0"/>
          </a:p>
        </p:txBody>
      </p:sp>
      <p:sp>
        <p:nvSpPr>
          <p:cNvPr id="5" name="Shape 3"/>
          <p:cNvSpPr/>
          <p:nvPr/>
        </p:nvSpPr>
        <p:spPr>
          <a:xfrm>
            <a:off x="566928" y="2157984"/>
            <a:ext cx="3490874" cy="2340864"/>
          </a:xfrm>
          <a:prstGeom prst="roundRect">
            <a:avLst>
              <a:gd name="adj" fmla="val 2344"/>
            </a:avLst>
          </a:prstGeom>
          <a:solidFill>
            <a:srgbClr val="F4F6F8"/>
          </a:solidFill>
          <a:ln/>
        </p:spPr>
      </p:sp>
      <p:sp>
        <p:nvSpPr>
          <p:cNvPr id="6" name="Shape 4"/>
          <p:cNvSpPr/>
          <p:nvPr/>
        </p:nvSpPr>
        <p:spPr>
          <a:xfrm>
            <a:off x="804672" y="2395728"/>
            <a:ext cx="310896" cy="310896"/>
          </a:xfrm>
          <a:prstGeom prst="ellipse">
            <a:avLst/>
          </a:prstGeom>
          <a:solidFill>
            <a:srgbClr val="C0453B"/>
          </a:solidFill>
          <a:ln/>
        </p:spPr>
      </p:sp>
      <p:sp>
        <p:nvSpPr>
          <p:cNvPr id="7" name="Text 5"/>
          <p:cNvSpPr/>
          <p:nvPr/>
        </p:nvSpPr>
        <p:spPr>
          <a:xfrm>
            <a:off x="804672" y="23957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804672" y="2871216"/>
            <a:ext cx="3015386" cy="676656"/>
          </a:xfrm>
          <a:prstGeom prst="rect">
            <a:avLst/>
          </a:prstGeom>
          <a:noFill/>
          <a:ln/>
        </p:spPr>
        <p:txBody>
          <a:bodyPr wrap="square" lIns="0" tIns="0" rIns="0" bIns="0" rtlCol="0" anchor="t"/>
          <a:lstStyle/>
          <a:p>
            <a:pPr indent="0" marL="0">
              <a:lnSpc>
                <a:spcPts val="1800"/>
              </a:lnSpc>
              <a:buNone/>
            </a:pPr>
            <a:r>
              <a:rPr lang="en-US" sz="1400" b="1" dirty="0">
                <a:solidFill>
                  <a:srgbClr val="16212E"/>
                </a:solidFill>
                <a:latin typeface="Calibri" pitchFamily="34" charset="0"/>
                <a:ea typeface="Calibri" pitchFamily="34" charset="-122"/>
                <a:cs typeface="Calibri" pitchFamily="34" charset="-120"/>
              </a:rPr>
              <a:t>Clustering menunjukkan</a:t>
            </a:r>
            <a:endParaRPr lang="en-US" sz="1400" dirty="0"/>
          </a:p>
          <a:p>
            <a:pPr indent="0" marL="0">
              <a:lnSpc>
                <a:spcPts val="1800"/>
              </a:lnSpc>
              <a:buNone/>
            </a:pPr>
            <a:r>
              <a:rPr lang="en-US" sz="1400" b="1" dirty="0">
                <a:solidFill>
                  <a:srgbClr val="16212E"/>
                </a:solidFill>
                <a:latin typeface="Calibri" pitchFamily="34" charset="0"/>
                <a:ea typeface="Calibri" pitchFamily="34" charset="-122"/>
                <a:cs typeface="Calibri" pitchFamily="34" charset="-120"/>
              </a:rPr>
              <a:t>DI MANA risikonya</a:t>
            </a:r>
            <a:endParaRPr lang="en-US" sz="1400" dirty="0"/>
          </a:p>
        </p:txBody>
      </p:sp>
      <p:sp>
        <p:nvSpPr>
          <p:cNvPr id="9" name="Text 7"/>
          <p:cNvSpPr/>
          <p:nvPr/>
        </p:nvSpPr>
        <p:spPr>
          <a:xfrm>
            <a:off x="804672" y="3566160"/>
            <a:ext cx="3015386" cy="786384"/>
          </a:xfrm>
          <a:prstGeom prst="rect">
            <a:avLst/>
          </a:prstGeom>
          <a:noFill/>
          <a:ln/>
        </p:spPr>
        <p:txBody>
          <a:bodyPr wrap="square" lIns="0" tIns="0" rIns="0" bIns="0" rtlCol="0" anchor="t"/>
          <a:lstStyle/>
          <a:p>
            <a:pPr indent="0" marL="0">
              <a:lnSpc>
                <a:spcPts val="1550"/>
              </a:lnSpc>
              <a:buNone/>
            </a:pPr>
            <a:r>
              <a:rPr lang="en-US" sz="1200" dirty="0">
                <a:solidFill>
                  <a:srgbClr val="24344A"/>
                </a:solidFill>
                <a:latin typeface="Calibri" pitchFamily="34" charset="0"/>
                <a:ea typeface="Calibri" pitchFamily="34" charset="-122"/>
                <a:cs typeface="Calibri" pitchFamily="34" charset="-120"/>
              </a:rPr>
              <a:t>Risiko ada di segmen mayoritas, dan terbaca dari beberapa atribut sekaligus — bukan satu skor tunggal.</a:t>
            </a:r>
            <a:endParaRPr lang="en-US" sz="1200" dirty="0"/>
          </a:p>
        </p:txBody>
      </p:sp>
      <p:sp>
        <p:nvSpPr>
          <p:cNvPr id="10" name="Shape 8"/>
          <p:cNvSpPr/>
          <p:nvPr/>
        </p:nvSpPr>
        <p:spPr>
          <a:xfrm>
            <a:off x="4350410" y="2157984"/>
            <a:ext cx="3490874" cy="2340864"/>
          </a:xfrm>
          <a:prstGeom prst="roundRect">
            <a:avLst>
              <a:gd name="adj" fmla="val 2344"/>
            </a:avLst>
          </a:prstGeom>
          <a:solidFill>
            <a:srgbClr val="F4F6F8"/>
          </a:solidFill>
          <a:ln/>
        </p:spPr>
      </p:sp>
      <p:sp>
        <p:nvSpPr>
          <p:cNvPr id="11" name="Shape 9"/>
          <p:cNvSpPr/>
          <p:nvPr/>
        </p:nvSpPr>
        <p:spPr>
          <a:xfrm>
            <a:off x="4588154" y="2395728"/>
            <a:ext cx="310896" cy="310896"/>
          </a:xfrm>
          <a:prstGeom prst="ellipse">
            <a:avLst/>
          </a:prstGeom>
          <a:solidFill>
            <a:srgbClr val="D98324"/>
          </a:solidFill>
          <a:ln/>
        </p:spPr>
      </p:sp>
      <p:sp>
        <p:nvSpPr>
          <p:cNvPr id="12" name="Text 10"/>
          <p:cNvSpPr/>
          <p:nvPr/>
        </p:nvSpPr>
        <p:spPr>
          <a:xfrm>
            <a:off x="4588154" y="23957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4588154" y="2871216"/>
            <a:ext cx="3015386" cy="676656"/>
          </a:xfrm>
          <a:prstGeom prst="rect">
            <a:avLst/>
          </a:prstGeom>
          <a:noFill/>
          <a:ln/>
        </p:spPr>
        <p:txBody>
          <a:bodyPr wrap="square" lIns="0" tIns="0" rIns="0" bIns="0" rtlCol="0" anchor="t"/>
          <a:lstStyle/>
          <a:p>
            <a:pPr indent="0" marL="0">
              <a:lnSpc>
                <a:spcPts val="1800"/>
              </a:lnSpc>
              <a:buNone/>
            </a:pPr>
            <a:r>
              <a:rPr lang="en-US" sz="1400" b="1" dirty="0">
                <a:solidFill>
                  <a:srgbClr val="16212E"/>
                </a:solidFill>
                <a:latin typeface="Calibri" pitchFamily="34" charset="0"/>
                <a:ea typeface="Calibri" pitchFamily="34" charset="-122"/>
                <a:cs typeface="Calibri" pitchFamily="34" charset="-120"/>
              </a:rPr>
              <a:t>ARM menjelaskan</a:t>
            </a:r>
            <a:endParaRPr lang="en-US" sz="1400" dirty="0"/>
          </a:p>
          <a:p>
            <a:pPr indent="0" marL="0">
              <a:lnSpc>
                <a:spcPts val="1800"/>
              </a:lnSpc>
              <a:buNone/>
            </a:pPr>
            <a:r>
              <a:rPr lang="en-US" sz="1400" b="1" dirty="0">
                <a:solidFill>
                  <a:srgbClr val="16212E"/>
                </a:solidFill>
                <a:latin typeface="Calibri" pitchFamily="34" charset="0"/>
                <a:ea typeface="Calibri" pitchFamily="34" charset="-122"/>
                <a:cs typeface="Calibri" pitchFamily="34" charset="-120"/>
              </a:rPr>
              <a:t>KENAPA skor lama kurang</a:t>
            </a:r>
            <a:endParaRPr lang="en-US" sz="1400" dirty="0"/>
          </a:p>
        </p:txBody>
      </p:sp>
      <p:sp>
        <p:nvSpPr>
          <p:cNvPr id="14" name="Text 12"/>
          <p:cNvSpPr/>
          <p:nvPr/>
        </p:nvSpPr>
        <p:spPr>
          <a:xfrm>
            <a:off x="4588154" y="3566160"/>
            <a:ext cx="3015386" cy="786384"/>
          </a:xfrm>
          <a:prstGeom prst="rect">
            <a:avLst/>
          </a:prstGeom>
          <a:noFill/>
          <a:ln/>
        </p:spPr>
        <p:txBody>
          <a:bodyPr wrap="square" lIns="0" tIns="0" rIns="0" bIns="0" rtlCol="0" anchor="t"/>
          <a:lstStyle/>
          <a:p>
            <a:pPr indent="0" marL="0">
              <a:lnSpc>
                <a:spcPts val="1550"/>
              </a:lnSpc>
              <a:buNone/>
            </a:pPr>
            <a:r>
              <a:rPr lang="en-US" sz="1200" dirty="0">
                <a:solidFill>
                  <a:srgbClr val="24344A"/>
                </a:solidFill>
                <a:latin typeface="Calibri" pitchFamily="34" charset="0"/>
                <a:ea typeface="Calibri" pitchFamily="34" charset="-122"/>
                <a:cs typeface="Calibri" pitchFamily="34" charset="-120"/>
              </a:rPr>
              <a:t>Grade hanya mengulang suku bunga. Skor internal tidak menambah informasi baru di atas keputusan harga.</a:t>
            </a:r>
            <a:endParaRPr lang="en-US" sz="1200" dirty="0"/>
          </a:p>
        </p:txBody>
      </p:sp>
      <p:sp>
        <p:nvSpPr>
          <p:cNvPr id="15" name="Shape 13"/>
          <p:cNvSpPr/>
          <p:nvPr/>
        </p:nvSpPr>
        <p:spPr>
          <a:xfrm>
            <a:off x="8133893" y="2157984"/>
            <a:ext cx="3490874" cy="2340864"/>
          </a:xfrm>
          <a:prstGeom prst="roundRect">
            <a:avLst>
              <a:gd name="adj" fmla="val 2344"/>
            </a:avLst>
          </a:prstGeom>
          <a:solidFill>
            <a:srgbClr val="F4F6F8"/>
          </a:solidFill>
          <a:ln/>
        </p:spPr>
      </p:sp>
      <p:sp>
        <p:nvSpPr>
          <p:cNvPr id="16" name="Shape 14"/>
          <p:cNvSpPr/>
          <p:nvPr/>
        </p:nvSpPr>
        <p:spPr>
          <a:xfrm>
            <a:off x="8371637" y="2395728"/>
            <a:ext cx="310896" cy="310896"/>
          </a:xfrm>
          <a:prstGeom prst="ellipse">
            <a:avLst/>
          </a:prstGeom>
          <a:solidFill>
            <a:srgbClr val="2E7D8F"/>
          </a:solidFill>
          <a:ln/>
        </p:spPr>
      </p:sp>
      <p:sp>
        <p:nvSpPr>
          <p:cNvPr id="17" name="Text 15"/>
          <p:cNvSpPr/>
          <p:nvPr/>
        </p:nvSpPr>
        <p:spPr>
          <a:xfrm>
            <a:off x="8371637" y="239572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8371637" y="2871216"/>
            <a:ext cx="3015386" cy="676656"/>
          </a:xfrm>
          <a:prstGeom prst="rect">
            <a:avLst/>
          </a:prstGeom>
          <a:noFill/>
          <a:ln/>
        </p:spPr>
        <p:txBody>
          <a:bodyPr wrap="square" lIns="0" tIns="0" rIns="0" bIns="0" rtlCol="0" anchor="t"/>
          <a:lstStyle/>
          <a:p>
            <a:pPr indent="0" marL="0">
              <a:lnSpc>
                <a:spcPts val="1800"/>
              </a:lnSpc>
              <a:buNone/>
            </a:pPr>
            <a:r>
              <a:rPr lang="en-US" sz="1400" b="1" dirty="0">
                <a:solidFill>
                  <a:srgbClr val="16212E"/>
                </a:solidFill>
                <a:latin typeface="Calibri" pitchFamily="34" charset="0"/>
                <a:ea typeface="Calibri" pitchFamily="34" charset="-122"/>
                <a:cs typeface="Calibri" pitchFamily="34" charset="-120"/>
              </a:rPr>
              <a:t>Anomaly Detection memberi</a:t>
            </a:r>
            <a:endParaRPr lang="en-US" sz="1400" dirty="0"/>
          </a:p>
          <a:p>
            <a:pPr indent="0" marL="0">
              <a:lnSpc>
                <a:spcPts val="1800"/>
              </a:lnSpc>
              <a:buNone/>
            </a:pPr>
            <a:r>
              <a:rPr lang="en-US" sz="1400" b="1" dirty="0">
                <a:solidFill>
                  <a:srgbClr val="16212E"/>
                </a:solidFill>
                <a:latin typeface="Calibri" pitchFamily="34" charset="0"/>
                <a:ea typeface="Calibri" pitchFamily="34" charset="-122"/>
                <a:cs typeface="Calibri" pitchFamily="34" charset="-120"/>
              </a:rPr>
              <a:t>ALAT GANTINYA</a:t>
            </a:r>
            <a:endParaRPr lang="en-US" sz="1400" dirty="0"/>
          </a:p>
        </p:txBody>
      </p:sp>
      <p:sp>
        <p:nvSpPr>
          <p:cNvPr id="19" name="Text 17"/>
          <p:cNvSpPr/>
          <p:nvPr/>
        </p:nvSpPr>
        <p:spPr>
          <a:xfrm>
            <a:off x="8371637" y="3566160"/>
            <a:ext cx="3015386" cy="786384"/>
          </a:xfrm>
          <a:prstGeom prst="rect">
            <a:avLst/>
          </a:prstGeom>
          <a:noFill/>
          <a:ln/>
        </p:spPr>
        <p:txBody>
          <a:bodyPr wrap="square" lIns="0" tIns="0" rIns="0" bIns="0" rtlCol="0" anchor="t"/>
          <a:lstStyle/>
          <a:p>
            <a:pPr indent="0" marL="0">
              <a:lnSpc>
                <a:spcPts val="1550"/>
              </a:lnSpc>
              <a:buNone/>
            </a:pPr>
            <a:r>
              <a:rPr lang="en-US" sz="1200" dirty="0">
                <a:solidFill>
                  <a:srgbClr val="24344A"/>
                </a:solidFill>
                <a:latin typeface="Calibri" pitchFamily="34" charset="0"/>
                <a:ea typeface="Calibri" pitchFamily="34" charset="-122"/>
                <a:cs typeface="Calibri" pitchFamily="34" charset="-120"/>
              </a:rPr>
              <a:t>Bukan status outlier, melainkan kombinasi atribut tekanan kredit yang tervalidasi menaikkan bad-rate 1,47×.</a:t>
            </a:r>
            <a:endParaRPr lang="en-US" sz="1200" dirty="0"/>
          </a:p>
        </p:txBody>
      </p:sp>
      <p:sp>
        <p:nvSpPr>
          <p:cNvPr id="20" name="Shape 18"/>
          <p:cNvSpPr/>
          <p:nvPr/>
        </p:nvSpPr>
        <p:spPr>
          <a:xfrm>
            <a:off x="566928" y="4718304"/>
            <a:ext cx="11057839" cy="1389888"/>
          </a:xfrm>
          <a:prstGeom prst="roundRect">
            <a:avLst>
              <a:gd name="adj" fmla="val 3947"/>
            </a:avLst>
          </a:prstGeom>
          <a:solidFill>
            <a:srgbClr val="16212E"/>
          </a:solidFill>
          <a:ln/>
        </p:spPr>
      </p:sp>
      <p:sp>
        <p:nvSpPr>
          <p:cNvPr id="21" name="Text 19"/>
          <p:cNvSpPr/>
          <p:nvPr/>
        </p:nvSpPr>
        <p:spPr>
          <a:xfrm>
            <a:off x="877824" y="4919472"/>
            <a:ext cx="2743200" cy="256032"/>
          </a:xfrm>
          <a:prstGeom prst="rect">
            <a:avLst/>
          </a:prstGeom>
          <a:noFill/>
          <a:ln/>
        </p:spPr>
        <p:txBody>
          <a:bodyPr wrap="square" lIns="0" tIns="0" rIns="0" bIns="0" rtlCol="0" anchor="ctr"/>
          <a:lstStyle/>
          <a:p>
            <a:pPr indent="0" marL="0">
              <a:buNone/>
            </a:pPr>
            <a:r>
              <a:rPr lang="en-US" sz="1200" b="1" spc="100" kern="0" dirty="0">
                <a:solidFill>
                  <a:srgbClr val="D98324"/>
                </a:solidFill>
                <a:latin typeface="Calibri" pitchFamily="34" charset="0"/>
                <a:ea typeface="Calibri" pitchFamily="34" charset="-122"/>
                <a:cs typeface="Calibri" pitchFamily="34" charset="-120"/>
              </a:rPr>
              <a:t>Rangkaiannya</a:t>
            </a:r>
            <a:endParaRPr lang="en-US" sz="1200" dirty="0"/>
          </a:p>
        </p:txBody>
      </p:sp>
      <p:sp>
        <p:nvSpPr>
          <p:cNvPr id="22" name="Text 20"/>
          <p:cNvSpPr/>
          <p:nvPr/>
        </p:nvSpPr>
        <p:spPr>
          <a:xfrm>
            <a:off x="877824" y="5212080"/>
            <a:ext cx="10436047" cy="786384"/>
          </a:xfrm>
          <a:prstGeom prst="rect">
            <a:avLst/>
          </a:prstGeom>
          <a:noFill/>
          <a:ln/>
        </p:spPr>
        <p:txBody>
          <a:bodyPr wrap="square" lIns="0" tIns="0" rIns="0" bIns="0" rtlCol="0" anchor="t"/>
          <a:lstStyle/>
          <a:p>
            <a:pPr indent="0" marL="0">
              <a:lnSpc>
                <a:spcPts val="1650"/>
              </a:lnSpc>
              <a:buNone/>
            </a:pPr>
            <a:r>
              <a:rPr lang="en-US" sz="1250" dirty="0">
                <a:solidFill>
                  <a:srgbClr val="D6DEE7"/>
                </a:solidFill>
                <a:latin typeface="Calibri" pitchFamily="34" charset="0"/>
                <a:ea typeface="Calibri" pitchFamily="34" charset="-122"/>
                <a:cs typeface="Calibri" pitchFamily="34" charset="-120"/>
              </a:rPr>
              <a:t>Bank menanggung risiko terbesar pada segmen yang paling besar, menilainya dengan skor yang sebagian hanya mengulang harga yang sudah ditetapkan sendiri, sementara flag anomali yang dipakai justru menyorot nasabah yang membayar lancar. Ketiga fase memberi satu perbaikan yang sama: nilai risiko dari kombinasi atribut fundamental peminjam.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Ketahanan hasil</a:t>
            </a:r>
            <a:endParaRPr lang="en-US" sz="1300" dirty="0"/>
          </a:p>
        </p:txBody>
      </p:sp>
      <p:sp>
        <p:nvSpPr>
          <p:cNvPr id="3" name="Text 1"/>
          <p:cNvSpPr/>
          <p:nvPr/>
        </p:nvSpPr>
        <p:spPr>
          <a:xfrm>
            <a:off x="566928" y="950976"/>
            <a:ext cx="11057839" cy="658368"/>
          </a:xfrm>
          <a:prstGeom prst="rect">
            <a:avLst/>
          </a:prstGeom>
          <a:noFill/>
          <a:ln/>
        </p:spPr>
        <p:txBody>
          <a:bodyPr wrap="square" lIns="0" tIns="0" rIns="0" bIns="0" rtlCol="0" anchor="t"/>
          <a:lstStyle/>
          <a:p>
            <a:pPr indent="0" marL="0">
              <a:lnSpc>
                <a:spcPts val="3200"/>
              </a:lnSpc>
              <a:buNone/>
            </a:pPr>
            <a:r>
              <a:rPr lang="en-US" sz="2800" b="1" dirty="0">
                <a:solidFill>
                  <a:srgbClr val="16212E"/>
                </a:solidFill>
                <a:latin typeface="Cambria" pitchFamily="34" charset="0"/>
                <a:ea typeface="Cambria" pitchFamily="34" charset="-122"/>
                <a:cs typeface="Cambria" pitchFamily="34" charset="-120"/>
              </a:rPr>
              <a:t>Dua parameter yang paling mungkin dipertanyakan</a:t>
            </a:r>
            <a:endParaRPr lang="en-US" sz="2800" dirty="0"/>
          </a:p>
        </p:txBody>
      </p:sp>
      <p:pic>
        <p:nvPicPr>
          <p:cNvPr id="4" name="Image 0" descr="/tmp/deck/img/k_selection.png">    </p:cNvPr>
          <p:cNvPicPr>
            <a:picLocks noChangeAspect="1"/>
          </p:cNvPicPr>
          <p:nvPr/>
        </p:nvPicPr>
        <p:blipFill>
          <a:blip r:embed="rId1"/>
          <a:stretch>
            <a:fillRect/>
          </a:stretch>
        </p:blipFill>
        <p:spPr>
          <a:xfrm>
            <a:off x="566928" y="1792224"/>
            <a:ext cx="5212080" cy="3429000"/>
          </a:xfrm>
          <a:prstGeom prst="rect">
            <a:avLst/>
          </a:prstGeom>
        </p:spPr>
      </p:pic>
      <p:pic>
        <p:nvPicPr>
          <p:cNvPr id="5" name="Image 1" descr="/tmp/deck/img/gap_test.png">    </p:cNvPr>
          <p:cNvPicPr>
            <a:picLocks noChangeAspect="1"/>
          </p:cNvPicPr>
          <p:nvPr/>
        </p:nvPicPr>
        <p:blipFill>
          <a:blip r:embed="rId2"/>
          <a:stretch>
            <a:fillRect/>
          </a:stretch>
        </p:blipFill>
        <p:spPr>
          <a:xfrm>
            <a:off x="6355080" y="1792224"/>
            <a:ext cx="5266944" cy="3374136"/>
          </a:xfrm>
          <a:prstGeom prst="rect">
            <a:avLst/>
          </a:prstGeom>
        </p:spPr>
      </p:pic>
      <p:sp>
        <p:nvSpPr>
          <p:cNvPr id="6" name="Text 2"/>
          <p:cNvSpPr/>
          <p:nvPr/>
        </p:nvSpPr>
        <p:spPr>
          <a:xfrm>
            <a:off x="566928" y="5431536"/>
            <a:ext cx="5212080" cy="914400"/>
          </a:xfrm>
          <a:prstGeom prst="rect">
            <a:avLst/>
          </a:prstGeom>
          <a:noFill/>
          <a:ln/>
        </p:spPr>
        <p:txBody>
          <a:bodyPr wrap="square" lIns="0" tIns="0" rIns="0" bIns="0" rtlCol="0" anchor="t"/>
          <a:lstStyle/>
          <a:p>
            <a:pPr indent="0" marL="0">
              <a:lnSpc>
                <a:spcPts val="1500"/>
              </a:lnSpc>
              <a:buNone/>
            </a:pPr>
            <a:r>
              <a:rPr lang="en-US" sz="1150" b="1" dirty="0">
                <a:solidFill>
                  <a:srgbClr val="16212E"/>
                </a:solidFill>
                <a:latin typeface="Calibri" pitchFamily="34" charset="0"/>
                <a:ea typeface="Calibri" pitchFamily="34" charset="-122"/>
                <a:cs typeface="Calibri" pitchFamily="34" charset="-120"/>
              </a:rPr>
              <a:t>Kenapa K=2, bukan siku pada kurva.  </a:t>
            </a:r>
            <a:pPr indent="0" marL="0">
              <a:lnSpc>
                <a:spcPts val="1500"/>
              </a:lnSpc>
              <a:buNone/>
            </a:pPr>
            <a:r>
              <a:rPr lang="en-US" sz="1150" dirty="0">
                <a:solidFill>
                  <a:srgbClr val="24344A"/>
                </a:solidFill>
                <a:latin typeface="Calibri" pitchFamily="34" charset="0"/>
                <a:ea typeface="Calibri" pitchFamily="34" charset="-122"/>
                <a:cs typeface="Calibri" pitchFamily="34" charset="-120"/>
              </a:rPr>
              <a:t>Inertia menurun mulus (369.751 → 327.805 → 305.776) tanpa siku tegas, jadi keputusan bertumpu pada Silhouette yang konsisten memilih K=2.</a:t>
            </a:r>
            <a:endParaRPr lang="en-US" sz="1150" dirty="0"/>
          </a:p>
        </p:txBody>
      </p:sp>
      <p:sp>
        <p:nvSpPr>
          <p:cNvPr id="7" name="Text 3"/>
          <p:cNvSpPr/>
          <p:nvPr/>
        </p:nvSpPr>
        <p:spPr>
          <a:xfrm>
            <a:off x="6355080" y="5431536"/>
            <a:ext cx="5266944" cy="914400"/>
          </a:xfrm>
          <a:prstGeom prst="rect">
            <a:avLst/>
          </a:prstGeom>
          <a:noFill/>
          <a:ln/>
        </p:spPr>
        <p:txBody>
          <a:bodyPr wrap="square" lIns="0" tIns="0" rIns="0" bIns="0" rtlCol="0" anchor="t"/>
          <a:lstStyle/>
          <a:p>
            <a:pPr indent="0" marL="0">
              <a:lnSpc>
                <a:spcPts val="1500"/>
              </a:lnSpc>
              <a:buNone/>
            </a:pPr>
            <a:r>
              <a:rPr lang="en-US" sz="1150" b="1" dirty="0">
                <a:solidFill>
                  <a:srgbClr val="16212E"/>
                </a:solidFill>
                <a:latin typeface="Calibri" pitchFamily="34" charset="0"/>
                <a:ea typeface="Calibri" pitchFamily="34" charset="-122"/>
                <a:cs typeface="Calibri" pitchFamily="34" charset="-120"/>
              </a:rPr>
              <a:t>Kenapa contamination 1% aman.  </a:t>
            </a:r>
            <a:pPr indent="0" marL="0">
              <a:lnSpc>
                <a:spcPts val="1500"/>
              </a:lnSpc>
              <a:buNone/>
            </a:pPr>
            <a:r>
              <a:rPr lang="en-US" sz="1150" dirty="0">
                <a:solidFill>
                  <a:srgbClr val="24344A"/>
                </a:solidFill>
                <a:latin typeface="Calibri" pitchFamily="34" charset="0"/>
                <a:ea typeface="Calibri" pitchFamily="34" charset="-122"/>
                <a:cs typeface="Calibri" pitchFamily="34" charset="-120"/>
              </a:rPr>
              <a:t>Selisih cutoff gap dan 1% hanya 1.030 baris (0,9%), karena anomali baru dihitung bila ditandai minimal dua metode — syarat itu yang meredam sensitivitas parameter.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lIns="0" tIns="0" rIns="0" bIns="0" rtlCol="0" anchor="ctr"/>
          <a:lstStyle/>
          <a:p>
            <a:pPr indent="0" marL="0">
              <a:buNone/>
            </a:pPr>
            <a:r>
              <a:rPr lang="en-US" sz="1300" i="1" dirty="0">
                <a:solidFill>
                  <a:srgbClr val="6B7A8D"/>
                </a:solidFill>
                <a:latin typeface="Calibri" pitchFamily="34" charset="0"/>
                <a:ea typeface="Calibri" pitchFamily="34" charset="-122"/>
                <a:cs typeface="Calibri" pitchFamily="34" charset="-120"/>
              </a:rPr>
              <a:t>Batasan</a:t>
            </a:r>
            <a:endParaRPr lang="en-US" sz="1300" dirty="0"/>
          </a:p>
        </p:txBody>
      </p:sp>
      <p:sp>
        <p:nvSpPr>
          <p:cNvPr id="3" name="Text 1"/>
          <p:cNvSpPr/>
          <p:nvPr/>
        </p:nvSpPr>
        <p:spPr>
          <a:xfrm>
            <a:off x="566928" y="950976"/>
            <a:ext cx="11057839" cy="658368"/>
          </a:xfrm>
          <a:prstGeom prst="rect">
            <a:avLst/>
          </a:prstGeom>
          <a:noFill/>
          <a:ln/>
        </p:spPr>
        <p:txBody>
          <a:bodyPr wrap="square" lIns="0" tIns="0" rIns="0" bIns="0" rtlCol="0" anchor="t"/>
          <a:lstStyle/>
          <a:p>
            <a:pPr indent="0" marL="0">
              <a:lnSpc>
                <a:spcPts val="3200"/>
              </a:lnSpc>
              <a:buNone/>
            </a:pPr>
            <a:r>
              <a:rPr lang="en-US" sz="2800" b="1" dirty="0">
                <a:solidFill>
                  <a:srgbClr val="16212E"/>
                </a:solidFill>
                <a:latin typeface="Cambria" pitchFamily="34" charset="0"/>
                <a:ea typeface="Cambria" pitchFamily="34" charset="-122"/>
                <a:cs typeface="Cambria" pitchFamily="34" charset="-120"/>
              </a:rPr>
              <a:t>Yang tidak bisa kami klaim dari analisis ini</a:t>
            </a:r>
            <a:endParaRPr lang="en-US" sz="2800" dirty="0"/>
          </a:p>
        </p:txBody>
      </p:sp>
      <p:sp>
        <p:nvSpPr>
          <p:cNvPr id="4" name="Shape 2"/>
          <p:cNvSpPr/>
          <p:nvPr/>
        </p:nvSpPr>
        <p:spPr>
          <a:xfrm>
            <a:off x="566928" y="1773936"/>
            <a:ext cx="5373472" cy="1975104"/>
          </a:xfrm>
          <a:prstGeom prst="roundRect">
            <a:avLst>
              <a:gd name="adj" fmla="val 2778"/>
            </a:avLst>
          </a:prstGeom>
          <a:solidFill>
            <a:srgbClr val="F4F6F8"/>
          </a:solidFill>
          <a:ln/>
        </p:spPr>
      </p:sp>
      <p:sp>
        <p:nvSpPr>
          <p:cNvPr id="5" name="Shape 3"/>
          <p:cNvSpPr/>
          <p:nvPr/>
        </p:nvSpPr>
        <p:spPr>
          <a:xfrm>
            <a:off x="841248" y="2084832"/>
            <a:ext cx="201168" cy="201168"/>
          </a:xfrm>
          <a:prstGeom prst="ellipse">
            <a:avLst/>
          </a:prstGeom>
          <a:solidFill>
            <a:srgbClr val="16212E"/>
          </a:solidFill>
          <a:ln/>
        </p:spPr>
      </p:sp>
      <p:sp>
        <p:nvSpPr>
          <p:cNvPr id="6" name="Text 4"/>
          <p:cNvSpPr/>
          <p:nvPr/>
        </p:nvSpPr>
        <p:spPr>
          <a:xfrm>
            <a:off x="1152144" y="2011680"/>
            <a:ext cx="4513936" cy="36576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Bukan hubungan sebab-akibat</a:t>
            </a:r>
            <a:endParaRPr lang="en-US" sz="1350" dirty="0"/>
          </a:p>
        </p:txBody>
      </p:sp>
      <p:sp>
        <p:nvSpPr>
          <p:cNvPr id="7" name="Text 5"/>
          <p:cNvSpPr/>
          <p:nvPr/>
        </p:nvSpPr>
        <p:spPr>
          <a:xfrm>
            <a:off x="841248" y="2487168"/>
            <a:ext cx="4824832" cy="1060704"/>
          </a:xfrm>
          <a:prstGeom prst="rect">
            <a:avLst/>
          </a:prstGeom>
          <a:noFill/>
          <a:ln/>
        </p:spPr>
        <p:txBody>
          <a:bodyPr wrap="square" lIns="0" tIns="0" rIns="0" bIns="0" rtlCol="0" anchor="t"/>
          <a:lstStyle/>
          <a:p>
            <a:pPr indent="0" marL="0">
              <a:lnSpc>
                <a:spcPts val="1550"/>
              </a:lnSpc>
              <a:buNone/>
            </a:pPr>
            <a:r>
              <a:rPr lang="en-US" sz="1150" dirty="0">
                <a:solidFill>
                  <a:srgbClr val="24344A"/>
                </a:solidFill>
                <a:latin typeface="Calibri" pitchFamily="34" charset="0"/>
                <a:ea typeface="Calibri" pitchFamily="34" charset="-122"/>
                <a:cs typeface="Calibri" pitchFamily="34" charset="-120"/>
              </a:rPr>
              <a:t>Yang dilaporkan selisih tingkat kejadian, bukan efek kausal. Utilisasi tinggi bisa jadi penanda tekanan yang sudah ada, bukan penyebabnya; skor tekanan dan gagal bayar bisa sama-sama akibat kondisi keuangan yang tidak terukur di dataset ini.</a:t>
            </a:r>
            <a:endParaRPr lang="en-US" sz="1150" dirty="0"/>
          </a:p>
        </p:txBody>
      </p:sp>
      <p:sp>
        <p:nvSpPr>
          <p:cNvPr id="8" name="Shape 6"/>
          <p:cNvSpPr/>
          <p:nvPr/>
        </p:nvSpPr>
        <p:spPr>
          <a:xfrm>
            <a:off x="6251296" y="1773936"/>
            <a:ext cx="5373472" cy="1975104"/>
          </a:xfrm>
          <a:prstGeom prst="roundRect">
            <a:avLst>
              <a:gd name="adj" fmla="val 2778"/>
            </a:avLst>
          </a:prstGeom>
          <a:solidFill>
            <a:srgbClr val="F4F6F8"/>
          </a:solidFill>
          <a:ln/>
        </p:spPr>
      </p:sp>
      <p:sp>
        <p:nvSpPr>
          <p:cNvPr id="9" name="Shape 7"/>
          <p:cNvSpPr/>
          <p:nvPr/>
        </p:nvSpPr>
        <p:spPr>
          <a:xfrm>
            <a:off x="6525616" y="2084832"/>
            <a:ext cx="201168" cy="201168"/>
          </a:xfrm>
          <a:prstGeom prst="ellipse">
            <a:avLst/>
          </a:prstGeom>
          <a:solidFill>
            <a:srgbClr val="16212E"/>
          </a:solidFill>
          <a:ln/>
        </p:spPr>
      </p:sp>
      <p:sp>
        <p:nvSpPr>
          <p:cNvPr id="10" name="Text 8"/>
          <p:cNvSpPr/>
          <p:nvPr/>
        </p:nvSpPr>
        <p:spPr>
          <a:xfrm>
            <a:off x="6836512" y="2011680"/>
            <a:ext cx="4513936" cy="36576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Outlier kontekstual belum diuji per segmen</a:t>
            </a:r>
            <a:endParaRPr lang="en-US" sz="1350" dirty="0"/>
          </a:p>
        </p:txBody>
      </p:sp>
      <p:sp>
        <p:nvSpPr>
          <p:cNvPr id="11" name="Text 9"/>
          <p:cNvSpPr/>
          <p:nvPr/>
        </p:nvSpPr>
        <p:spPr>
          <a:xfrm>
            <a:off x="6525616" y="2487168"/>
            <a:ext cx="4824832" cy="1060704"/>
          </a:xfrm>
          <a:prstGeom prst="rect">
            <a:avLst/>
          </a:prstGeom>
          <a:noFill/>
          <a:ln/>
        </p:spPr>
        <p:txBody>
          <a:bodyPr wrap="square" lIns="0" tIns="0" rIns="0" bIns="0" rtlCol="0" anchor="t"/>
          <a:lstStyle/>
          <a:p>
            <a:pPr indent="0" marL="0">
              <a:lnSpc>
                <a:spcPts val="1550"/>
              </a:lnSpc>
              <a:buNone/>
            </a:pPr>
            <a:r>
              <a:rPr lang="en-US" sz="1150" dirty="0">
                <a:solidFill>
                  <a:srgbClr val="24344A"/>
                </a:solidFill>
                <a:latin typeface="Calibri" pitchFamily="34" charset="0"/>
                <a:ea typeface="Calibri" pitchFamily="34" charset="-122"/>
                <a:cs typeface="Calibri" pitchFamily="34" charset="-120"/>
              </a:rPr>
              <a:t>Mahalanobis dihitung terhadap centroid populasi, bukan centroid tiap cluster — record yang wajar secara global tapi janggal di dalam segmennya sendiri tidak tertangkap. Deteksi collective bergantung sepenuhnya pada DBSCAN karena dataset satu-baris-per-pinjaman.</a:t>
            </a:r>
            <a:endParaRPr lang="en-US" sz="1150" dirty="0"/>
          </a:p>
        </p:txBody>
      </p:sp>
      <p:sp>
        <p:nvSpPr>
          <p:cNvPr id="12" name="Shape 10"/>
          <p:cNvSpPr/>
          <p:nvPr/>
        </p:nvSpPr>
        <p:spPr>
          <a:xfrm>
            <a:off x="566928" y="4023360"/>
            <a:ext cx="5373472" cy="1975104"/>
          </a:xfrm>
          <a:prstGeom prst="roundRect">
            <a:avLst>
              <a:gd name="adj" fmla="val 2778"/>
            </a:avLst>
          </a:prstGeom>
          <a:solidFill>
            <a:srgbClr val="F4F6F8"/>
          </a:solidFill>
          <a:ln/>
        </p:spPr>
      </p:sp>
      <p:sp>
        <p:nvSpPr>
          <p:cNvPr id="13" name="Shape 11"/>
          <p:cNvSpPr/>
          <p:nvPr/>
        </p:nvSpPr>
        <p:spPr>
          <a:xfrm>
            <a:off x="841248" y="4334256"/>
            <a:ext cx="201168" cy="201168"/>
          </a:xfrm>
          <a:prstGeom prst="ellipse">
            <a:avLst/>
          </a:prstGeom>
          <a:solidFill>
            <a:srgbClr val="16212E"/>
          </a:solidFill>
          <a:ln/>
        </p:spPr>
      </p:sp>
      <p:sp>
        <p:nvSpPr>
          <p:cNvPr id="14" name="Text 12"/>
          <p:cNvSpPr/>
          <p:nvPr/>
        </p:nvSpPr>
        <p:spPr>
          <a:xfrm>
            <a:off x="1152144" y="4261104"/>
            <a:ext cx="4513936" cy="36576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Data hanya pemohon yang disetujui</a:t>
            </a:r>
            <a:endParaRPr lang="en-US" sz="1350" dirty="0"/>
          </a:p>
        </p:txBody>
      </p:sp>
      <p:sp>
        <p:nvSpPr>
          <p:cNvPr id="15" name="Text 13"/>
          <p:cNvSpPr/>
          <p:nvPr/>
        </p:nvSpPr>
        <p:spPr>
          <a:xfrm>
            <a:off x="841248" y="4736592"/>
            <a:ext cx="4824832" cy="1060704"/>
          </a:xfrm>
          <a:prstGeom prst="rect">
            <a:avLst/>
          </a:prstGeom>
          <a:noFill/>
          <a:ln/>
        </p:spPr>
        <p:txBody>
          <a:bodyPr wrap="square" lIns="0" tIns="0" rIns="0" bIns="0" rtlCol="0" anchor="t"/>
          <a:lstStyle/>
          <a:p>
            <a:pPr indent="0" marL="0">
              <a:lnSpc>
                <a:spcPts val="1550"/>
              </a:lnSpc>
              <a:buNone/>
            </a:pPr>
            <a:r>
              <a:rPr lang="en-US" sz="1150" dirty="0">
                <a:solidFill>
                  <a:srgbClr val="24344A"/>
                </a:solidFill>
                <a:latin typeface="Calibri" pitchFamily="34" charset="0"/>
                <a:ea typeface="Calibri" pitchFamily="34" charset="-122"/>
                <a:cs typeface="Calibri" pitchFamily="34" charset="-120"/>
              </a:rPr>
              <a:t>Ada bias seleksi: pemohon yang ditolak tidak terlihat. Terbatas pasar AS, periode 2007–2018, dan grade/suku bunga mengikuti kebijakan internal Lending Club.</a:t>
            </a:r>
            <a:endParaRPr lang="en-US" sz="1150" dirty="0"/>
          </a:p>
        </p:txBody>
      </p:sp>
      <p:sp>
        <p:nvSpPr>
          <p:cNvPr id="16" name="Shape 14"/>
          <p:cNvSpPr/>
          <p:nvPr/>
        </p:nvSpPr>
        <p:spPr>
          <a:xfrm>
            <a:off x="6251296" y="4023360"/>
            <a:ext cx="5373472" cy="1975104"/>
          </a:xfrm>
          <a:prstGeom prst="roundRect">
            <a:avLst>
              <a:gd name="adj" fmla="val 2778"/>
            </a:avLst>
          </a:prstGeom>
          <a:solidFill>
            <a:srgbClr val="EEF4F4"/>
          </a:solidFill>
          <a:ln/>
        </p:spPr>
      </p:sp>
      <p:sp>
        <p:nvSpPr>
          <p:cNvPr id="17" name="Shape 15"/>
          <p:cNvSpPr/>
          <p:nvPr/>
        </p:nvSpPr>
        <p:spPr>
          <a:xfrm>
            <a:off x="6525616" y="4334256"/>
            <a:ext cx="201168" cy="201168"/>
          </a:xfrm>
          <a:prstGeom prst="ellipse">
            <a:avLst/>
          </a:prstGeom>
          <a:solidFill>
            <a:srgbClr val="2E7D8F"/>
          </a:solidFill>
          <a:ln/>
        </p:spPr>
      </p:sp>
      <p:sp>
        <p:nvSpPr>
          <p:cNvPr id="18" name="Text 16"/>
          <p:cNvSpPr/>
          <p:nvPr/>
        </p:nvSpPr>
        <p:spPr>
          <a:xfrm>
            <a:off x="6836512" y="4261104"/>
            <a:ext cx="4513936" cy="36576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Yang akan memperkuat analisis</a:t>
            </a:r>
            <a:endParaRPr lang="en-US" sz="1350" dirty="0"/>
          </a:p>
        </p:txBody>
      </p:sp>
      <p:sp>
        <p:nvSpPr>
          <p:cNvPr id="19" name="Text 17"/>
          <p:cNvSpPr/>
          <p:nvPr/>
        </p:nvSpPr>
        <p:spPr>
          <a:xfrm>
            <a:off x="6525616" y="4736592"/>
            <a:ext cx="4824832" cy="1060704"/>
          </a:xfrm>
          <a:prstGeom prst="rect">
            <a:avLst/>
          </a:prstGeom>
          <a:noFill/>
          <a:ln/>
        </p:spPr>
        <p:txBody>
          <a:bodyPr wrap="square" lIns="0" tIns="0" rIns="0" bIns="0" rtlCol="0" anchor="t"/>
          <a:lstStyle/>
          <a:p>
            <a:pPr indent="0" marL="0">
              <a:lnSpc>
                <a:spcPts val="1550"/>
              </a:lnSpc>
              <a:buNone/>
            </a:pPr>
            <a:r>
              <a:rPr lang="en-US" sz="1150" dirty="0">
                <a:solidFill>
                  <a:srgbClr val="24344A"/>
                </a:solidFill>
                <a:latin typeface="Calibri" pitchFamily="34" charset="0"/>
                <a:ea typeface="Calibri" pitchFamily="34" charset="-122"/>
                <a:cs typeface="Calibri" pitchFamily="34" charset="-120"/>
              </a:rPr>
              <a:t>Data pemohon ditolak, riwayat pembayaran bulanan, indikator makroekonomi per periode origination, dan atribut biro kredit yang independen dari penetapan harga internal.</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12E"/>
        </a:solidFill>
      </p:bgPr>
    </p:bg>
    <p:spTree>
      <p:nvGrpSpPr>
        <p:cNvPr id="1" name=""/>
        <p:cNvGrpSpPr/>
        <p:nvPr/>
      </p:nvGrpSpPr>
      <p:grpSpPr>
        <a:xfrm>
          <a:off x="0" y="0"/>
          <a:ext cx="0" cy="0"/>
          <a:chOff x="0" y="0"/>
          <a:chExt cx="0" cy="0"/>
        </a:xfrm>
      </p:grpSpPr>
      <p:sp>
        <p:nvSpPr>
          <p:cNvPr id="2" name="Text 0"/>
          <p:cNvSpPr/>
          <p:nvPr/>
        </p:nvSpPr>
        <p:spPr>
          <a:xfrm>
            <a:off x="566928" y="932688"/>
            <a:ext cx="7315200" cy="329184"/>
          </a:xfrm>
          <a:prstGeom prst="rect">
            <a:avLst/>
          </a:prstGeom>
          <a:noFill/>
          <a:ln/>
        </p:spPr>
        <p:txBody>
          <a:bodyPr wrap="square" lIns="0" tIns="0" rIns="0" bIns="0" rtlCol="0" anchor="ctr"/>
          <a:lstStyle/>
          <a:p>
            <a:pPr indent="0" marL="0">
              <a:buNone/>
            </a:pPr>
            <a:r>
              <a:rPr lang="en-US" sz="1300" b="1" spc="200" kern="0" dirty="0">
                <a:solidFill>
                  <a:srgbClr val="D98324"/>
                </a:solidFill>
                <a:latin typeface="Calibri" pitchFamily="34" charset="0"/>
                <a:ea typeface="Calibri" pitchFamily="34" charset="-122"/>
                <a:cs typeface="Calibri" pitchFamily="34" charset="-120"/>
              </a:rPr>
              <a:t>Ringkasnya</a:t>
            </a:r>
            <a:endParaRPr lang="en-US" sz="1300" dirty="0"/>
          </a:p>
        </p:txBody>
      </p:sp>
      <p:sp>
        <p:nvSpPr>
          <p:cNvPr id="3" name="Text 1"/>
          <p:cNvSpPr/>
          <p:nvPr/>
        </p:nvSpPr>
        <p:spPr>
          <a:xfrm>
            <a:off x="566928" y="1353312"/>
            <a:ext cx="960120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Tiga hal yang sebaiknya berubah</a:t>
            </a:r>
            <a:endParaRPr lang="en-US" sz="3400" dirty="0"/>
          </a:p>
        </p:txBody>
      </p:sp>
      <p:sp>
        <p:nvSpPr>
          <p:cNvPr id="4" name="Shape 2"/>
          <p:cNvSpPr/>
          <p:nvPr/>
        </p:nvSpPr>
        <p:spPr>
          <a:xfrm>
            <a:off x="566928" y="2487168"/>
            <a:ext cx="310896" cy="310896"/>
          </a:xfrm>
          <a:prstGeom prst="ellipse">
            <a:avLst/>
          </a:prstGeom>
          <a:solidFill>
            <a:srgbClr val="D98324"/>
          </a:solidFill>
          <a:ln/>
        </p:spPr>
      </p:sp>
      <p:sp>
        <p:nvSpPr>
          <p:cNvPr id="5" name="Text 3"/>
          <p:cNvSpPr/>
          <p:nvPr/>
        </p:nvSpPr>
        <p:spPr>
          <a:xfrm>
            <a:off x="566928" y="2487168"/>
            <a:ext cx="310896" cy="310896"/>
          </a:xfrm>
          <a:prstGeom prst="rect">
            <a:avLst/>
          </a:prstGeom>
          <a:noFill/>
          <a:ln/>
        </p:spPr>
        <p:txBody>
          <a:bodyPr wrap="square" lIns="0" tIns="0" rIns="0" bIns="0" rtlCol="0" anchor="ctr"/>
          <a:lstStyle/>
          <a:p>
            <a:pPr algn="ctr" indent="0" marL="0">
              <a:buNone/>
            </a:pPr>
            <a:r>
              <a:rPr lang="en-US" sz="1250" b="1" dirty="0">
                <a:solidFill>
                  <a:srgbClr val="16212E"/>
                </a:solidFill>
                <a:latin typeface="Calibri" pitchFamily="34" charset="0"/>
                <a:ea typeface="Calibri" pitchFamily="34" charset="-122"/>
                <a:cs typeface="Calibri" pitchFamily="34" charset="-120"/>
              </a:rPr>
              <a:t>1</a:t>
            </a:r>
            <a:endParaRPr lang="en-US" sz="1250" dirty="0"/>
          </a:p>
        </p:txBody>
      </p:sp>
      <p:sp>
        <p:nvSpPr>
          <p:cNvPr id="6" name="Text 4"/>
          <p:cNvSpPr/>
          <p:nvPr/>
        </p:nvSpPr>
        <p:spPr>
          <a:xfrm>
            <a:off x="1024128" y="2468880"/>
            <a:ext cx="2651760" cy="457200"/>
          </a:xfrm>
          <a:prstGeom prst="rect">
            <a:avLst/>
          </a:prstGeom>
          <a:noFill/>
          <a:ln/>
        </p:spPr>
        <p:txBody>
          <a:bodyPr wrap="square" lIns="0" tIns="0" rIns="0" bIns="0" rtlCol="0" anchor="t"/>
          <a:lstStyle/>
          <a:p>
            <a:pPr indent="0" marL="0">
              <a:lnSpc>
                <a:spcPts val="1800"/>
              </a:lnSpc>
              <a:buNone/>
            </a:pPr>
            <a:r>
              <a:rPr lang="en-US" sz="1400" b="1" dirty="0">
                <a:solidFill>
                  <a:srgbClr val="D98324"/>
                </a:solidFill>
                <a:latin typeface="Calibri" pitchFamily="34" charset="0"/>
                <a:ea typeface="Calibri" pitchFamily="34" charset="-122"/>
                <a:cs typeface="Calibri" pitchFamily="34" charset="-120"/>
              </a:rPr>
              <a:t>Tim kebijakan kredit</a:t>
            </a:r>
            <a:endParaRPr lang="en-US" sz="1400" dirty="0"/>
          </a:p>
        </p:txBody>
      </p:sp>
      <p:sp>
        <p:nvSpPr>
          <p:cNvPr id="7" name="Text 5"/>
          <p:cNvSpPr/>
          <p:nvPr/>
        </p:nvSpPr>
        <p:spPr>
          <a:xfrm>
            <a:off x="3767328" y="2468880"/>
            <a:ext cx="7857439" cy="841248"/>
          </a:xfrm>
          <a:prstGeom prst="rect">
            <a:avLst/>
          </a:prstGeom>
          <a:noFill/>
          <a:ln/>
        </p:spPr>
        <p:txBody>
          <a:bodyPr wrap="square" lIns="0" tIns="0" rIns="0" bIns="0" rtlCol="0" anchor="t"/>
          <a:lstStyle/>
          <a:p>
            <a:pPr indent="0" marL="0">
              <a:lnSpc>
                <a:spcPts val="1650"/>
              </a:lnSpc>
              <a:buNone/>
            </a:pPr>
            <a:r>
              <a:rPr lang="en-US" sz="1250" dirty="0">
                <a:solidFill>
                  <a:srgbClr val="C7D2DC"/>
                </a:solidFill>
                <a:latin typeface="Calibri" pitchFamily="34" charset="0"/>
                <a:ea typeface="Calibri" pitchFamily="34" charset="-122"/>
                <a:cs typeface="Calibri" pitchFamily="34" charset="-120"/>
              </a:rPr>
              <a:t>Kalibrasi harga dan limit pada kombinasi FICO, utilisasi revolving, dan ukuran pinjaman. Segmen higher-risk berukuran 62,2% — perbaikan kecil di sini berdampak jauh lebih besar daripada menyaring minoritas ekor.</a:t>
            </a:r>
            <a:endParaRPr lang="en-US" sz="1250" dirty="0"/>
          </a:p>
        </p:txBody>
      </p:sp>
      <p:sp>
        <p:nvSpPr>
          <p:cNvPr id="8" name="Shape 6"/>
          <p:cNvSpPr/>
          <p:nvPr/>
        </p:nvSpPr>
        <p:spPr>
          <a:xfrm>
            <a:off x="566928" y="3547872"/>
            <a:ext cx="310896" cy="310896"/>
          </a:xfrm>
          <a:prstGeom prst="ellipse">
            <a:avLst/>
          </a:prstGeom>
          <a:solidFill>
            <a:srgbClr val="D98324"/>
          </a:solidFill>
          <a:ln/>
        </p:spPr>
      </p:sp>
      <p:sp>
        <p:nvSpPr>
          <p:cNvPr id="9" name="Text 7"/>
          <p:cNvSpPr/>
          <p:nvPr/>
        </p:nvSpPr>
        <p:spPr>
          <a:xfrm>
            <a:off x="566928" y="3547872"/>
            <a:ext cx="310896" cy="310896"/>
          </a:xfrm>
          <a:prstGeom prst="rect">
            <a:avLst/>
          </a:prstGeom>
          <a:noFill/>
          <a:ln/>
        </p:spPr>
        <p:txBody>
          <a:bodyPr wrap="square" lIns="0" tIns="0" rIns="0" bIns="0" rtlCol="0" anchor="ctr"/>
          <a:lstStyle/>
          <a:p>
            <a:pPr algn="ctr" indent="0" marL="0">
              <a:buNone/>
            </a:pPr>
            <a:r>
              <a:rPr lang="en-US" sz="1250" b="1" dirty="0">
                <a:solidFill>
                  <a:srgbClr val="16212E"/>
                </a:solidFill>
                <a:latin typeface="Calibri" pitchFamily="34" charset="0"/>
                <a:ea typeface="Calibri" pitchFamily="34" charset="-122"/>
                <a:cs typeface="Calibri" pitchFamily="34" charset="-120"/>
              </a:rPr>
              <a:t>2</a:t>
            </a:r>
            <a:endParaRPr lang="en-US" sz="1250" dirty="0"/>
          </a:p>
        </p:txBody>
      </p:sp>
      <p:sp>
        <p:nvSpPr>
          <p:cNvPr id="10" name="Text 8"/>
          <p:cNvSpPr/>
          <p:nvPr/>
        </p:nvSpPr>
        <p:spPr>
          <a:xfrm>
            <a:off x="1024128" y="3529584"/>
            <a:ext cx="2651760" cy="457200"/>
          </a:xfrm>
          <a:prstGeom prst="rect">
            <a:avLst/>
          </a:prstGeom>
          <a:noFill/>
          <a:ln/>
        </p:spPr>
        <p:txBody>
          <a:bodyPr wrap="square" lIns="0" tIns="0" rIns="0" bIns="0" rtlCol="0" anchor="t"/>
          <a:lstStyle/>
          <a:p>
            <a:pPr indent="0" marL="0">
              <a:lnSpc>
                <a:spcPts val="1800"/>
              </a:lnSpc>
              <a:buNone/>
            </a:pPr>
            <a:r>
              <a:rPr lang="en-US" sz="1400" b="1" dirty="0">
                <a:solidFill>
                  <a:srgbClr val="D98324"/>
                </a:solidFill>
                <a:latin typeface="Calibri" pitchFamily="34" charset="0"/>
                <a:ea typeface="Calibri" pitchFamily="34" charset="-122"/>
                <a:cs typeface="Calibri" pitchFamily="34" charset="-120"/>
              </a:rPr>
              <a:t>Tim pemodelan risiko</a:t>
            </a:r>
            <a:endParaRPr lang="en-US" sz="1400" dirty="0"/>
          </a:p>
        </p:txBody>
      </p:sp>
      <p:sp>
        <p:nvSpPr>
          <p:cNvPr id="11" name="Text 9"/>
          <p:cNvSpPr/>
          <p:nvPr/>
        </p:nvSpPr>
        <p:spPr>
          <a:xfrm>
            <a:off x="3767328" y="3529584"/>
            <a:ext cx="7857439" cy="841248"/>
          </a:xfrm>
          <a:prstGeom prst="rect">
            <a:avLst/>
          </a:prstGeom>
          <a:noFill/>
          <a:ln/>
        </p:spPr>
        <p:txBody>
          <a:bodyPr wrap="square" lIns="0" tIns="0" rIns="0" bIns="0" rtlCol="0" anchor="t"/>
          <a:lstStyle/>
          <a:p>
            <a:pPr indent="0" marL="0">
              <a:lnSpc>
                <a:spcPts val="1650"/>
              </a:lnSpc>
              <a:buNone/>
            </a:pPr>
            <a:r>
              <a:rPr lang="en-US" sz="1250" dirty="0">
                <a:solidFill>
                  <a:srgbClr val="C7D2DC"/>
                </a:solidFill>
                <a:latin typeface="Calibri" pitchFamily="34" charset="0"/>
                <a:ea typeface="Calibri" pitchFamily="34" charset="-122"/>
                <a:cs typeface="Calibri" pitchFamily="34" charset="-120"/>
              </a:rPr>
              <a:t>Berhenti memperlakukan grade sebagai fitur independen di samping suku bunga. Modelkan langsung dari DTI, FICO, utilisasi, dan penghasilan.</a:t>
            </a:r>
            <a:endParaRPr lang="en-US" sz="1250" dirty="0"/>
          </a:p>
        </p:txBody>
      </p:sp>
      <p:sp>
        <p:nvSpPr>
          <p:cNvPr id="12" name="Shape 10"/>
          <p:cNvSpPr/>
          <p:nvPr/>
        </p:nvSpPr>
        <p:spPr>
          <a:xfrm>
            <a:off x="566928" y="4608576"/>
            <a:ext cx="310896" cy="310896"/>
          </a:xfrm>
          <a:prstGeom prst="ellipse">
            <a:avLst/>
          </a:prstGeom>
          <a:solidFill>
            <a:srgbClr val="D98324"/>
          </a:solidFill>
          <a:ln/>
        </p:spPr>
      </p:sp>
      <p:sp>
        <p:nvSpPr>
          <p:cNvPr id="13" name="Text 11"/>
          <p:cNvSpPr/>
          <p:nvPr/>
        </p:nvSpPr>
        <p:spPr>
          <a:xfrm>
            <a:off x="566928" y="4608576"/>
            <a:ext cx="310896" cy="310896"/>
          </a:xfrm>
          <a:prstGeom prst="rect">
            <a:avLst/>
          </a:prstGeom>
          <a:noFill/>
          <a:ln/>
        </p:spPr>
        <p:txBody>
          <a:bodyPr wrap="square" lIns="0" tIns="0" rIns="0" bIns="0" rtlCol="0" anchor="ctr"/>
          <a:lstStyle/>
          <a:p>
            <a:pPr algn="ctr" indent="0" marL="0">
              <a:buNone/>
            </a:pPr>
            <a:r>
              <a:rPr lang="en-US" sz="1250" b="1" dirty="0">
                <a:solidFill>
                  <a:srgbClr val="16212E"/>
                </a:solidFill>
                <a:latin typeface="Calibri" pitchFamily="34" charset="0"/>
                <a:ea typeface="Calibri" pitchFamily="34" charset="-122"/>
                <a:cs typeface="Calibri" pitchFamily="34" charset="-120"/>
              </a:rPr>
              <a:t>3</a:t>
            </a:r>
            <a:endParaRPr lang="en-US" sz="1250" dirty="0"/>
          </a:p>
        </p:txBody>
      </p:sp>
      <p:sp>
        <p:nvSpPr>
          <p:cNvPr id="14" name="Text 12"/>
          <p:cNvSpPr/>
          <p:nvPr/>
        </p:nvSpPr>
        <p:spPr>
          <a:xfrm>
            <a:off x="1024128" y="4590288"/>
            <a:ext cx="2651760" cy="457200"/>
          </a:xfrm>
          <a:prstGeom prst="rect">
            <a:avLst/>
          </a:prstGeom>
          <a:noFill/>
          <a:ln/>
        </p:spPr>
        <p:txBody>
          <a:bodyPr wrap="square" lIns="0" tIns="0" rIns="0" bIns="0" rtlCol="0" anchor="t"/>
          <a:lstStyle/>
          <a:p>
            <a:pPr indent="0" marL="0">
              <a:lnSpc>
                <a:spcPts val="1800"/>
              </a:lnSpc>
              <a:buNone/>
            </a:pPr>
            <a:r>
              <a:rPr lang="en-US" sz="1400" b="1" dirty="0">
                <a:solidFill>
                  <a:srgbClr val="D98324"/>
                </a:solidFill>
                <a:latin typeface="Calibri" pitchFamily="34" charset="0"/>
                <a:ea typeface="Calibri" pitchFamily="34" charset="-122"/>
                <a:cs typeface="Calibri" pitchFamily="34" charset="-120"/>
              </a:rPr>
              <a:t>Tim underwriting</a:t>
            </a:r>
            <a:endParaRPr lang="en-US" sz="1400" dirty="0"/>
          </a:p>
        </p:txBody>
      </p:sp>
      <p:sp>
        <p:nvSpPr>
          <p:cNvPr id="15" name="Text 13"/>
          <p:cNvSpPr/>
          <p:nvPr/>
        </p:nvSpPr>
        <p:spPr>
          <a:xfrm>
            <a:off x="3767328" y="4590288"/>
            <a:ext cx="7857439" cy="841248"/>
          </a:xfrm>
          <a:prstGeom prst="rect">
            <a:avLst/>
          </a:prstGeom>
          <a:noFill/>
          <a:ln/>
        </p:spPr>
        <p:txBody>
          <a:bodyPr wrap="square" lIns="0" tIns="0" rIns="0" bIns="0" rtlCol="0" anchor="t"/>
          <a:lstStyle/>
          <a:p>
            <a:pPr indent="0" marL="0">
              <a:lnSpc>
                <a:spcPts val="1650"/>
              </a:lnSpc>
              <a:buNone/>
            </a:pPr>
            <a:r>
              <a:rPr lang="en-US" sz="1250" dirty="0">
                <a:solidFill>
                  <a:srgbClr val="C7D2DC"/>
                </a:solidFill>
                <a:latin typeface="Calibri" pitchFamily="34" charset="0"/>
                <a:ea typeface="Calibri" pitchFamily="34" charset="-122"/>
                <a:cs typeface="Calibri" pitchFamily="34" charset="-120"/>
              </a:rPr>
              <a:t>Ganti flag berbasis outlier dengan aturan kombinasi atribut tekanan kredit (bad-rate 19,2% vs 13,1%). Koreksi 2.654 baris data error lebih dulu.</a:t>
            </a:r>
            <a:endParaRPr lang="en-US" sz="1250" dirty="0"/>
          </a:p>
        </p:txBody>
      </p:sp>
      <p:sp>
        <p:nvSpPr>
          <p:cNvPr id="16" name="Shape 14"/>
          <p:cNvSpPr/>
          <p:nvPr/>
        </p:nvSpPr>
        <p:spPr>
          <a:xfrm>
            <a:off x="566928" y="5815584"/>
            <a:ext cx="11057839" cy="0"/>
          </a:xfrm>
          <a:prstGeom prst="line">
            <a:avLst/>
          </a:prstGeom>
          <a:noFill/>
          <a:ln w="12700">
            <a:solidFill>
              <a:srgbClr val="3A4B60"/>
            </a:solidFill>
            <a:prstDash val="solid"/>
          </a:ln>
        </p:spPr>
      </p:sp>
      <p:sp>
        <p:nvSpPr>
          <p:cNvPr id="17" name="Text 15"/>
          <p:cNvSpPr/>
          <p:nvPr/>
        </p:nvSpPr>
        <p:spPr>
          <a:xfrm>
            <a:off x="566928" y="5980176"/>
            <a:ext cx="11057839" cy="548640"/>
          </a:xfrm>
          <a:prstGeom prst="rect">
            <a:avLst/>
          </a:prstGeom>
          <a:noFill/>
          <a:ln/>
        </p:spPr>
        <p:txBody>
          <a:bodyPr wrap="square" lIns="0" tIns="0" rIns="0" bIns="0" rtlCol="0" anchor="t"/>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Notebook lima fase, pipeline preprocessing modular, dashboard Dash interaktif, dan laporan lengkap — seluruh angka pada slide ini dapat ditelusuri ke output pipeline.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Kelompok 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Segmentasi Risiko Peminjam pada Dataset Lending Club</dc:title>
  <dc:subject>PptxGenJS Presentation</dc:subject>
  <dc:creator>Kelompok 2</dc:creator>
  <cp:lastModifiedBy>Kelompok 2</cp:lastModifiedBy>
  <cp:revision>1</cp:revision>
  <dcterms:created xsi:type="dcterms:W3CDTF">2026-07-27T02:36:47Z</dcterms:created>
  <dcterms:modified xsi:type="dcterms:W3CDTF">2026-07-27T02:36:47Z</dcterms:modified>
</cp:coreProperties>
</file>